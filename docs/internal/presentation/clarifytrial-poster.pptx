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embeddings/clarifytrial-chart-1.xlsx" ContentType="application/vnd.openxmlformats-officedocument.spreadsheetml.sheet"/>
  <Override PartName="/ppt/embeddings/clarifytrial-chart-2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dc397ecc0438f" /><Relationship Type="http://schemas.openxmlformats.org/officeDocument/2006/relationships/extended-properties" Target="/docProps/app.xml" Id="R1a5780d87c554693" /><Relationship Type="http://schemas.openxmlformats.org/officeDocument/2006/relationships/officeDocument" Target="/ppt/presentation.xml" Id="R9f82a8e4924b4d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7df502a1174777"/>
  </p:sldMasterIdLst>
  <p:notesMasterIdLst>
    <p:notesMasterId xmlns:r="http://schemas.openxmlformats.org/officeDocument/2006/relationships" r:id="R4009b0a22f564341"/>
  </p:notesMasterIdLst>
  <p:sldIdLst>
    <p:sldId xmlns:r="http://schemas.openxmlformats.org/officeDocument/2006/relationships" id="256" r:id="Ra0dd2ce2468c4028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d74a77cf9453c" /><Relationship Type="http://schemas.openxmlformats.org/officeDocument/2006/relationships/slideMaster" Target="/ppt/slideMasters/slideMaster1.xml" Id="Rd37df502a1174777" /><Relationship Type="http://schemas.openxmlformats.org/officeDocument/2006/relationships/notesMaster" Target="/ppt/notesMasters/notesMaster1.xml" Id="R4009b0a22f564341" /><Relationship Type="http://schemas.openxmlformats.org/officeDocument/2006/relationships/presProps" Target="/ppt/presProps.xml" Id="R457a8ad6c5ad40e3" /><Relationship Type="http://schemas.openxmlformats.org/officeDocument/2006/relationships/tableStyles" Target="/ppt/tableStyles.xml" Id="Rffd472d45e724591" /><Relationship Type="http://schemas.openxmlformats.org/officeDocument/2006/relationships/slide" Target="/ppt/slides/slide1.xml" Id="Ra0dd2ce2468c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2b7484fc214e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a8eb4a0524a21" /><Relationship Type="http://schemas.openxmlformats.org/officeDocument/2006/relationships/notesMaster" Target="/ppt/notesMasters/notesMaster1.xml" Id="R4173fae07756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선정 제목·저자는 2026-09-05 HWP 내용 기록을 유지했다. 새 방법은 선정 후 추가 연구다.</a:t>
            </a:r>
          </a:p>
          <a:p xmlns:a="http://schemas.openxmlformats.org/drawingml/2006/main">
            <a:r>
              <a:t>작업 크기 900×1200 mm. 학회 공식 규격·발표시간·추가 결과 반영 범위 확인 전 인쇄/제출 확정본이 아니다.</a:t>
            </a:r>
          </a:p>
          <a:p xmlns:a="http://schemas.openxmlformats.org/drawingml/2006/main">
            <a:r>
              <a:t>수치 출처: docs/internal/results/risk-aware-acquisition-v1/matched_test_summary.json 및 matched_analysis.json.</a:t>
            </a:r>
          </a:p>
          <a:p xmlns:a="http://schemas.openxmlformats.org/drawingml/2006/main">
            <a:r>
              <a:t>첫 결과를 본 후 확률모형을 맞춘 후속 비교다. 방법·τ=.03은 유지하고 새 교정/평가를 사용했다. 첫 교정의 보장을 재사용하지 않았다.</a:t>
            </a:r>
          </a:p>
          <a:p xmlns:a="http://schemas.openxmlformats.org/drawingml/2006/main">
            <a:r>
              <a:t>[1] Liu et al. DQueST. JAMIA 2019;26:1333–1343. https://doi.org/10.1093/jamia/ocz121</a:t>
            </a:r>
          </a:p>
          <a:p xmlns:a="http://schemas.openxmlformats.org/drawingml/2006/main">
            <a:r>
              <a:t>[2] Javdani et al. Near Optimal Bayesian Active Learning for Decision Making. AISTATS 2014;33:430–438. https://proceedings.mlr.press/v33/javdani14.html</a:t>
            </a:r>
          </a:p>
          <a:p xmlns:a="http://schemas.openxmlformats.org/drawingml/2006/main">
            <a:r>
              <a:t>[3] Ma et al. EDDI. ICML 2019;97:4234–4243. https://proceedings.mlr.press/v97/ma19c.html</a:t>
            </a:r>
          </a:p>
          <a:p xmlns:a="http://schemas.openxmlformats.org/drawingml/2006/main">
            <a:r>
              <a:t>[4] Angelopoulos et al. Learn then Test. https://arxiv.org/html/2110.01052v5</a:t>
            </a:r>
          </a:p>
          <a:p xmlns:a="http://schemas.openxmlformats.org/drawingml/2006/main">
            <a:r>
              <a:t>임상적 사용: 이 결과는 의학적 조언이 아닌 참고용입니다. 임상시험 참가 가능성은 해당 시험의 최신 기준과 전체 자료를 바탕으로 다시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b2dbf73fd44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93fa1af964b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35fc8e7464b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03aa468e34c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9d45089774b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39f85fd664b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A914B6-D774-4CA9-AFC6-87E12C8E3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40000" y="16320000"/>
            <a:ext cx="25920000" cy="6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7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ACB482-BAF0-46CC-9F13-2FC7B202B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60000" y="23760000"/>
            <a:ext cx="2268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07E31C-D3B2-4F9E-A75D-61D3BFF3E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40000" y="18000000"/>
            <a:ext cx="25920000" cy="7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D16E0-CEC2-4C45-9D1A-ACD652FB9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2500" y="3360000"/>
            <a:ext cx="28755000" cy="5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0000A5-01B7-49D1-8D04-3AF695CFDC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2500" y="12000000"/>
            <a:ext cx="28755000" cy="26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0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1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2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3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84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65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46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27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08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AFD391-C6B9-4186-8419-5C5A57612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2500" y="3360000"/>
            <a:ext cx="28755000" cy="5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A0B197-2F61-4C25-A5FD-D2F2EAC16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2500" y="12000000"/>
            <a:ext cx="13365000" cy="26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0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1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2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3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84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65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46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27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08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B0B134-BBE0-4A48-BEDB-99D9212A07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212500" y="12000000"/>
            <a:ext cx="13365000" cy="26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0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1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2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3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84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65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46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27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08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5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E10547-D2DF-4E26-91AD-6789170C2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2500" y="3360000"/>
            <a:ext cx="28755000" cy="5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7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B3E47D-ACA5-4971-B954-90E756C8E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2500" y="12000000"/>
            <a:ext cx="13365000" cy="26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0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1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2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3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84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65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46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27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087500" indent="-607500" algn="l">
              <a:lnSpc>
                <a:spcPct val="110000"/>
              </a:lnSpc>
              <a:spcBef>
                <a:spcPts val="0"/>
              </a:spcBef>
              <a:spcAft>
                <a:spcPts val="3189"/>
              </a:spcAft>
              <a:buChar char="•"/>
              <a:defRPr sz="5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17fb7f05a4487" /><Relationship Type="http://schemas.openxmlformats.org/officeDocument/2006/relationships/slideLayout" Target="/ppt/slideLayouts/slideLayout1.xml" Id="R9815392b4c194958" /><Relationship Type="http://schemas.openxmlformats.org/officeDocument/2006/relationships/slideLayout" Target="/ppt/slideLayouts/slideLayout2.xml" Id="R3fa0fb1d5e014db4" /><Relationship Type="http://schemas.openxmlformats.org/officeDocument/2006/relationships/slideLayout" Target="/ppt/slideLayouts/slideLayout3.xml" Id="R6c97c476160f4e58" /><Relationship Type="http://schemas.openxmlformats.org/officeDocument/2006/relationships/slideLayout" Target="/ppt/slideLayouts/slideLayout4.xml" Id="R6a98d178324b47fb" /><Relationship Type="http://schemas.openxmlformats.org/officeDocument/2006/relationships/slideLayout" Target="/ppt/slideLayouts/slideLayout5.xml" Id="R054d12988b0f430e" /><Relationship Type="http://schemas.openxmlformats.org/officeDocument/2006/relationships/slideLayout" Target="/ppt/slideLayouts/slideLayout6.xml" Id="R508fc97b355247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5392b4c194958"/>
    <p:sldLayoutId xmlns:r="http://schemas.openxmlformats.org/officeDocument/2006/relationships" id="2147483650" r:id="R3fa0fb1d5e014db4"/>
    <p:sldLayoutId xmlns:r="http://schemas.openxmlformats.org/officeDocument/2006/relationships" id="2147483651" r:id="R6c97c476160f4e58"/>
    <p:sldLayoutId xmlns:r="http://schemas.openxmlformats.org/officeDocument/2006/relationships" id="2147483652" r:id="R6a98d178324b47fb"/>
    <p:sldLayoutId xmlns:r="http://schemas.openxmlformats.org/officeDocument/2006/relationships" id="2147483653" r:id="R054d12988b0f430e"/>
    <p:sldLayoutId xmlns:r="http://schemas.openxmlformats.org/officeDocument/2006/relationships" id="2147483654" r:id="R508fc97b355247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fe60da0544dd1" /><Relationship Type="http://schemas.openxmlformats.org/officeDocument/2006/relationships/chart" Target="/ppt/slides/charts/chart1.xml" Id="Rcedea7a04949425c" /><Relationship Type="http://schemas.openxmlformats.org/officeDocument/2006/relationships/chart" Target="/ppt/slides/charts/chart2.xml" Id="Ra1712bd664b44a36" /><Relationship Type="http://schemas.openxmlformats.org/officeDocument/2006/relationships/notesSlide" Target="/ppt/notesSlides/notesSlide1.xml" Id="R70b0ebfc6fd145ae" /></Relationships>
</file>

<file path=ppt/slides/charts/_rels/chart1.xml.rels><?xml version='1.0' encoding='utf-8'?>
<Relationships xmlns="http://schemas.openxmlformats.org/package/2006/relationships"><Relationship Id="rIdPosterWorkbook" Type="http://schemas.openxmlformats.org/officeDocument/2006/relationships/package" Target="../../embeddings/clarifytrial-chart-1.xlsx" /></Relationships>
</file>

<file path=ppt/slides/charts/_rels/chart2.xml.rels><?xml version='1.0' encoding='utf-8'?>
<Relationships xmlns="http://schemas.openxmlformats.org/package/2006/relationships"><Relationship Id="rIdPosterWorkbook" Type="http://schemas.openxmlformats.org/officeDocument/2006/relationships/package" Target="../../embeddings/clarifytrial-chart-2.xlsx" /></Relationships>
</file>

<file path=ppt/slides/charts/chart1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한 단계 선택</c:v>
                </c:pt>
              </c:strCache>
            </c:strRef>
          </c:tx>
          <c:spPr>
            <ns1:solidFill>
              <ns1:srgbClr val="8C9AA5"/>
            </ns1:solidFill>
          </c:spPr>
          <c:invertIfNegative val="0"/>
          <c:cat>
            <c:strRef>
              <c:f>ChartData!$A$2:$A$2</c:f>
              <c:strCache>
                <c:ptCount val="1"/>
                <c:pt idx="0">
                  <c:v>선택한 수치 부분조건</c:v>
                </c:pt>
              </c:strCache>
            </c:strRef>
          </c:cat>
          <c:val>
            <c:numRef>
              <c:f>ChartData!$B$2:$B$2</c:f>
              <c:numCache>
                <c:formatCode>0</c:formatCode>
                <c:ptCount val="1"/>
                <c:pt idx="0">
                  <c:v>76.3125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선택적 재확인</c:v>
                </c:pt>
              </c:strCache>
            </c:strRef>
          </c:tx>
          <c:spPr>
            <ns1:solidFill>
              <ns1:srgbClr val="087F82"/>
            </ns1:solidFill>
          </c:spPr>
          <c:invertIfNegative val="0"/>
          <c:cat>
            <c:strRef>
              <c:f>ChartData!$A$2:$A$2</c:f>
              <c:strCache>
                <c:ptCount val="1"/>
                <c:pt idx="0">
                  <c:v>선택한 수치 부분조건</c:v>
                </c:pt>
              </c:strCache>
            </c:strRef>
          </c:cat>
          <c:val>
            <c:numRef>
              <c:f>ChartData!$C$2:$C$2</c:f>
              <c:numCache>
                <c:formatCode>0</c:formatCode>
                <c:ptCount val="1"/>
                <c:pt idx="0">
                  <c:v>79.41666666666667</c:v>
                </c:pt>
              </c:numCache>
            </c:numRef>
          </c:val>
        </c:ser>
        <c:dLbls>
          <c:numFmt formatCode="0.00" sourceLinked="0"/>
          <c:txPr>
            <ns1:bodyPr anchorCtr="1"/>
            <ns1:lstStyle/>
            <ns1:p>
              <ns1:pPr>
                <ns1:defRPr sz="4252" b="1">
                  <ns1:solidFill>
                    <ns1:srgbClr val="183249"/>
                  </ns1:solidFill>
                  <ns1:latin typeface="Malgun Gothic"/>
                  <ns1:ea typeface="Malgun Gothic"/>
                  <ns1:cs typeface="Malgun Gothic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>
                <ns1:solidFill>
                  <ns1:srgbClr val="666666"/>
                </ns1:solidFill>
                <ns1:latin typeface="Malgun Gothic"/>
                <ns1:ea typeface="Malgun Gothic"/>
                <ns1:cs typeface="Malgun Gothic"/>
              </ns1:defRPr>
            </ns1:pPr>
          </ns1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ns1:ln w="13500">
              <ns1:solidFill>
                <ns1:srgbClr val="CBDBDF"/>
              </ns1:solidFill>
            </ns1:ln>
          </c:spPr>
        </c:majorGridlines>
        <c:title>
          <c:tx>
            <c:rich>
              <ns1:bodyPr/>
              <ns1:lstStyle/>
              <ns1:p>
                <ns1:r>
                  <ns1:rPr>
                    <ns1:latin typeface="Malgun Gothic"/>
                    <ns1:ea typeface="Malgun Gothic"/>
                    <ns1:cs typeface="Malgun Gothic"/>
                  </ns1:rPr>
                  <ns1:t>올바른 부분조건 상태 (%)</ns1:t>
                </ns1:r>
              </ns1:p>
            </c:rich>
          </c:tx>
          <c:overlay val="0"/>
          <c:txPr>
            <ns1:bodyPr anchorCtr="1"/>
            <ns1:lstStyle/>
            <ns1:p>
              <ns1:pPr>
                <ns1:defRPr>
                  <ns1:latin typeface="Malgun Gothic"/>
                  <ns1:ea typeface="Malgun Gothic"/>
                  <ns1:cs typeface="Malgun Gothic"/>
                </ns1:defRPr>
              </ns1:pPr>
            </ns1:p>
          </c:txPr>
        </c:title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2976">
                <ns1:solidFill>
                  <ns1:srgbClr val="4D6170"/>
                </ns1:solidFill>
                <ns1:latin typeface="Malgun Gothic"/>
                <ns1:ea typeface="Malgun Gothic"/>
                <ns1:cs typeface="Malgun Gothic"/>
              </ns1:defRPr>
            </ns1:pPr>
          </ns1:p>
        </c:txPr>
        <c:crossAx val="48650112"/>
        <c:crossBetween val="between"/>
        <c:majorUnit val="20"/>
      </c:valAx>
      <c:spPr>
        <ns1:solidFill>
          <ns1:srgbClr val="FFFFFF"/>
        </ns1:solidFill>
      </c:spPr>
    </c:plotArea>
    <c:legend>
      <c:legendPos val="b"/>
      <c:overlay val="0"/>
      <c:txPr>
        <ns1:bodyPr anchorCtr="1"/>
        <ns1:lstStyle/>
        <ns1:p>
          <ns1:pPr>
            <ns1:defRPr sz="3189">
              <ns1:solidFill>
                <ns1:srgbClr val="4D6170"/>
              </ns1:solidFill>
              <ns1:latin typeface="Malgun Gothic"/>
              <ns1:ea typeface="Malgun Gothic"/>
              <ns1:cs typeface="Malgun Gothic"/>
            </ns1:defRPr>
          </ns1:pPr>
        </ns1:p>
      </c:txPr>
    </c:legend>
    <c:plotVisOnly val="1"/>
  </c:chart>
  <c:spPr>
    <ns1:solidFill>
      <ns1:srgbClr val="FFFFFF"/>
    </ns1:solidFill>
  </c:spPr>
  <c:externalData r:id="rIdPosterWorkbook">
    <c:autoUpdate val="0"/>
  </c:externalData>
</c:chartSpace>
</file>

<file path=ppt/slides/charts/chart2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한 단계 선택</c:v>
                </c:pt>
              </c:strCache>
            </c:strRef>
          </c:tx>
          <c:spPr>
            <ns1:solidFill>
              <ns1:srgbClr val="8C9AA5"/>
            </ns1:solidFill>
          </c:spPr>
          <c:invertIfNegative val="0"/>
          <c:cat>
            <c:strRef>
              <c:f>ChartData!$A$2:$A$2</c:f>
              <c:strCache>
                <c:ptCount val="1"/>
                <c:pt idx="0">
                  <c:v>합성 평가 환자</c:v>
                </c:pt>
              </c:strCache>
            </c:strRef>
          </c:cat>
          <c:val>
            <c:numRef>
              <c:f>ChartData!$B$2:$B$2</c:f>
              <c:numCache>
                <c:formatCode>0</c:formatCode>
                <c:ptCount val="1"/>
                <c:pt idx="0">
                  <c:v>1136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선택적 재확인</c:v>
                </c:pt>
              </c:strCache>
            </c:strRef>
          </c:tx>
          <c:spPr>
            <ns1:solidFill>
              <ns1:srgbClr val="087F82"/>
            </ns1:solidFill>
          </c:spPr>
          <c:invertIfNegative val="0"/>
          <c:cat>
            <c:strRef>
              <c:f>ChartData!$A$2:$A$2</c:f>
              <c:strCache>
                <c:ptCount val="1"/>
                <c:pt idx="0">
                  <c:v>합성 평가 환자</c:v>
                </c:pt>
              </c:strCache>
            </c:strRef>
          </c:cat>
          <c:val>
            <c:numRef>
              <c:f>ChartData!$C$2:$C$2</c:f>
              <c:numCache>
                <c:formatCode>0</c:formatCode>
                <c:ptCount val="1"/>
                <c:pt idx="0">
                  <c:v>939</c:v>
                </c:pt>
              </c:numCache>
            </c:numRef>
          </c:val>
        </c:ser>
        <c:dLbls>
          <c:numFmt formatCode="0" sourceLinked="0"/>
          <c:txPr>
            <ns1:bodyPr anchorCtr="1"/>
            <ns1:lstStyle/>
            <ns1:p>
              <ns1:pPr>
                <ns1:defRPr sz="4252" b="1">
                  <ns1:solidFill>
                    <ns1:srgbClr val="183249"/>
                  </ns1:solidFill>
                  <ns1:latin typeface="Malgun Gothic"/>
                  <ns1:ea typeface="Malgun Gothic"/>
                  <ns1:cs typeface="Malgun Gothic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>
                <ns1:solidFill>
                  <ns1:srgbClr val="666666"/>
                </ns1:solidFill>
                <ns1:latin typeface="Malgun Gothic"/>
                <ns1:ea typeface="Malgun Gothic"/>
                <ns1:cs typeface="Malgun Gothic"/>
              </ns1:defRPr>
            </ns1:pPr>
          </ns1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b"/>
        <c:majorGridlines>
          <c:spPr>
            <ns1:ln w="13500">
              <ns1:solidFill>
                <ns1:srgbClr val="CBDBDF"/>
              </ns1:solidFill>
            </ns1:ln>
          </c:spPr>
        </c:majorGridlines>
        <c:title>
          <c:tx>
            <c:rich>
              <ns1:bodyPr/>
              <ns1:lstStyle/>
              <ns1:p>
                <ns1:r>
                  <ns1:rPr>
                    <ns1:latin typeface="Malgun Gothic"/>
                    <ns1:ea typeface="Malgun Gothic"/>
                    <ns1:cs typeface="Malgun Gothic"/>
                  </ns1:rPr>
                  <ns1:t>방문 횟수 (1,200명 합계)</ns1:t>
                </ns1:r>
              </ns1:p>
            </c:rich>
          </c:tx>
          <c:overlay val="0"/>
          <c:txPr>
            <ns1:bodyPr anchorCtr="1"/>
            <ns1:lstStyle/>
            <ns1:p>
              <ns1:pPr>
                <ns1:defRPr>
                  <ns1:latin typeface="Malgun Gothic"/>
                  <ns1:ea typeface="Malgun Gothic"/>
                  <ns1:cs typeface="Malgun Gothic"/>
                </ns1:defRPr>
              </ns1:pPr>
            </ns1:p>
          </c:txPr>
        </c:title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2976">
                <ns1:solidFill>
                  <ns1:srgbClr val="4D6170"/>
                </ns1:solidFill>
                <ns1:latin typeface="Malgun Gothic"/>
                <ns1:ea typeface="Malgun Gothic"/>
                <ns1:cs typeface="Malgun Gothic"/>
              </ns1:defRPr>
            </ns1:pPr>
          </ns1:p>
        </c:txPr>
        <c:crossAx val="48650112"/>
        <c:crossBetween val="between"/>
        <c:majorUnit val="300"/>
      </c:valAx>
      <c:spPr>
        <ns1:solidFill>
          <ns1:srgbClr val="FFFFFF"/>
        </ns1:solidFill>
      </c:spPr>
    </c:plotArea>
    <c:legend>
      <c:legendPos val="b"/>
      <c:overlay val="0"/>
      <c:txPr>
        <ns1:bodyPr anchorCtr="1"/>
        <ns1:lstStyle/>
        <ns1:p>
          <ns1:pPr>
            <ns1:defRPr sz="3189">
              <ns1:solidFill>
                <ns1:srgbClr val="4D6170"/>
              </ns1:solidFill>
              <ns1:latin typeface="Malgun Gothic"/>
              <ns1:ea typeface="Malgun Gothic"/>
              <ns1:cs typeface="Malgun Gothic"/>
            </ns1:defRPr>
          </ns1:pPr>
        </ns1:p>
      </c:txPr>
    </c:legend>
    <c:plotVisOnly val="1"/>
  </c:chart>
  <c:spPr>
    <ns1:solidFill>
      <ns1:srgbClr val="FFFFFF"/>
    </ns1:solidFill>
  </c:spPr>
  <c:externalData r:id="rIdPoster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roject">
            <a:extLst xmlns:a="http://schemas.openxmlformats.org/drawingml/2006/main">
              <a:ext uri="{FF2B5EF4-FFF2-40B4-BE49-F238E27FC236}">
                <a16:creationId xmlns:a16="http://schemas.microsoft.com/office/drawing/2014/main" id="{D4D27E90-BA3B-4DD9-813D-9F7B4B8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783000"/>
            <a:ext cx="17550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2" b="1">
                <a:solidFill>
                  <a:srgbClr val="087F82"/>
                </a:solidFill>
              </a:defRPr>
            </a:defPPr>
            <a:lvl1pPr>
              <a:defRPr sz="5102" b="1">
                <a:solidFill>
                  <a:srgbClr val="087F82"/>
                </a:solidFill>
              </a:defRPr>
            </a:lvl1pPr>
            <a:lvl2pPr>
              <a:defRPr sz="5102" b="1">
                <a:solidFill>
                  <a:srgbClr val="087F82"/>
                </a:solidFill>
              </a:defRPr>
            </a:lvl2pPr>
            <a:lvl3pPr>
              <a:defRPr sz="5102" b="1">
                <a:solidFill>
                  <a:srgbClr val="087F82"/>
                </a:solidFill>
              </a:defRPr>
            </a:lvl3pPr>
            <a:lvl4pPr>
              <a:defRPr sz="5102" b="1">
                <a:solidFill>
                  <a:srgbClr val="087F82"/>
                </a:solidFill>
              </a:defRPr>
            </a:lvl4pPr>
            <a:lvl5pPr>
              <a:defRPr sz="5102" b="1">
                <a:solidFill>
                  <a:srgbClr val="087F82"/>
                </a:solidFill>
              </a:defRPr>
            </a:lvl5pPr>
            <a:lvl6pPr>
              <a:defRPr sz="5102" b="1">
                <a:solidFill>
                  <a:srgbClr val="087F82"/>
                </a:solidFill>
              </a:defRPr>
            </a:lvl6pPr>
            <a:lvl7pPr>
              <a:defRPr sz="5102" b="1">
                <a:solidFill>
                  <a:srgbClr val="087F82"/>
                </a:solidFill>
              </a:defRPr>
            </a:lvl7pPr>
            <a:lvl8pPr>
              <a:defRPr sz="5102" b="1">
                <a:solidFill>
                  <a:srgbClr val="087F82"/>
                </a:solidFill>
              </a:defRPr>
            </a:lvl8pPr>
            <a:lvl9pPr>
              <a:defRPr sz="5102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102" b="1">
                <a:solidFill>
                  <a:srgbClr val="087F82"/>
                </a:solidFill>
              </a:defRPr>
            </a:pPr>
            <a:r>
              <a:rPr sz="5102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ClarifyTrial</a:t>
            </a:r>
          </a:p>
        </p:txBody>
      </p:sp>
      <p:sp>
        <p:nvSpPr>
          <p:cNvPr id="2" name="scope-label">
            <a:extLst xmlns:a="http://schemas.openxmlformats.org/drawingml/2006/main">
              <a:ext uri="{FF2B5EF4-FFF2-40B4-BE49-F238E27FC236}">
                <a16:creationId xmlns:a16="http://schemas.microsoft.com/office/drawing/2014/main" id="{7ECD9573-DE2D-49E3-8A17-DC2AC80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0000" y="918000"/>
            <a:ext cx="14094000" cy="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89" b="0">
                <a:solidFill>
                  <a:srgbClr val="4D6170"/>
                </a:solidFill>
              </a:defRPr>
            </a:defPPr>
            <a:lvl1pPr>
              <a:defRPr sz="3189" b="0">
                <a:solidFill>
                  <a:srgbClr val="4D6170"/>
                </a:solidFill>
              </a:defRPr>
            </a:lvl1pPr>
            <a:lvl2pPr>
              <a:defRPr sz="3189" b="0">
                <a:solidFill>
                  <a:srgbClr val="4D6170"/>
                </a:solidFill>
              </a:defRPr>
            </a:lvl2pPr>
            <a:lvl3pPr>
              <a:defRPr sz="3189" b="0">
                <a:solidFill>
                  <a:srgbClr val="4D6170"/>
                </a:solidFill>
              </a:defRPr>
            </a:lvl3pPr>
            <a:lvl4pPr>
              <a:defRPr sz="3189" b="0">
                <a:solidFill>
                  <a:srgbClr val="4D6170"/>
                </a:solidFill>
              </a:defRPr>
            </a:lvl4pPr>
            <a:lvl5pPr>
              <a:defRPr sz="3189" b="0">
                <a:solidFill>
                  <a:srgbClr val="4D6170"/>
                </a:solidFill>
              </a:defRPr>
            </a:lvl5pPr>
            <a:lvl6pPr>
              <a:defRPr sz="3189" b="0">
                <a:solidFill>
                  <a:srgbClr val="4D6170"/>
                </a:solidFill>
              </a:defRPr>
            </a:lvl6pPr>
            <a:lvl7pPr>
              <a:defRPr sz="3189" b="0">
                <a:solidFill>
                  <a:srgbClr val="4D6170"/>
                </a:solidFill>
              </a:defRPr>
            </a:lvl7pPr>
            <a:lvl8pPr>
              <a:defRPr sz="3189" b="0">
                <a:solidFill>
                  <a:srgbClr val="4D6170"/>
                </a:solidFill>
              </a:defRPr>
            </a:lvl8pPr>
            <a:lvl9pPr>
              <a:defRPr sz="3189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3189" b="0">
                <a:solidFill>
                  <a:srgbClr val="4D6170"/>
                </a:solidFill>
              </a:defRPr>
            </a:pPr>
            <a:r>
              <a:rPr sz="3189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공개 임상시험 조건과 합성 환자를 이용한 방법 연구</a:t>
            </a:r>
          </a:p>
        </p:txBody>
      </p:sp>
      <p:sp>
        <p:nvSpPr>
          <p:cNvPr id="3" name="accepted-title">
            <a:extLst xmlns:a="http://schemas.openxmlformats.org/drawingml/2006/main">
              <a:ext uri="{FF2B5EF4-FFF2-40B4-BE49-F238E27FC236}">
                <a16:creationId xmlns:a16="http://schemas.microsoft.com/office/drawing/2014/main" id="{083E1F4E-D0D9-4A35-AECC-34DC0C9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214000"/>
            <a:ext cx="29808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91" b="1">
                <a:solidFill>
                  <a:srgbClr val="183249"/>
                </a:solidFill>
              </a:defRPr>
            </a:defPPr>
            <a:lvl1pPr>
              <a:defRPr sz="8291" b="1">
                <a:solidFill>
                  <a:srgbClr val="183249"/>
                </a:solidFill>
              </a:defRPr>
            </a:lvl1pPr>
            <a:lvl2pPr>
              <a:defRPr sz="8291" b="1">
                <a:solidFill>
                  <a:srgbClr val="183249"/>
                </a:solidFill>
              </a:defRPr>
            </a:lvl2pPr>
            <a:lvl3pPr>
              <a:defRPr sz="8291" b="1">
                <a:solidFill>
                  <a:srgbClr val="183249"/>
                </a:solidFill>
              </a:defRPr>
            </a:lvl3pPr>
            <a:lvl4pPr>
              <a:defRPr sz="8291" b="1">
                <a:solidFill>
                  <a:srgbClr val="183249"/>
                </a:solidFill>
              </a:defRPr>
            </a:lvl4pPr>
            <a:lvl5pPr>
              <a:defRPr sz="8291" b="1">
                <a:solidFill>
                  <a:srgbClr val="183249"/>
                </a:solidFill>
              </a:defRPr>
            </a:lvl5pPr>
            <a:lvl6pPr>
              <a:defRPr sz="8291" b="1">
                <a:solidFill>
                  <a:srgbClr val="183249"/>
                </a:solidFill>
              </a:defRPr>
            </a:lvl6pPr>
            <a:lvl7pPr>
              <a:defRPr sz="8291" b="1">
                <a:solidFill>
                  <a:srgbClr val="183249"/>
                </a:solidFill>
              </a:defRPr>
            </a:lvl7pPr>
            <a:lvl8pPr>
              <a:defRPr sz="8291" b="1">
                <a:solidFill>
                  <a:srgbClr val="183249"/>
                </a:solidFill>
              </a:defRPr>
            </a:lvl8pPr>
            <a:lvl9pPr>
              <a:defRPr sz="8291" b="1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8291" b="1">
                <a:solidFill>
                  <a:srgbClr val="183249"/>
                </a:solidFill>
              </a:defRPr>
            </a:pPr>
            <a:r>
              <a:rPr sz="8291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제한된 확인 횟수와 환자 제약을 고려한</a:t>
            </a:r>
            <a:br>
              <a:rPr sz="8291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8291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상호작용형 임상시험 사전선별: ClarifyTrial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1C0E2239-10BC-4FBF-A2BC-EF992532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5670000"/>
            <a:ext cx="29808000" cy="8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827" b="0">
                <a:solidFill>
                  <a:srgbClr val="183249"/>
                </a:solidFill>
              </a:defRPr>
            </a:defPPr>
            <a:lvl1pPr>
              <a:defRPr sz="3827" b="0">
                <a:solidFill>
                  <a:srgbClr val="183249"/>
                </a:solidFill>
              </a:defRPr>
            </a:lvl1pPr>
            <a:lvl2pPr>
              <a:defRPr sz="3827" b="0">
                <a:solidFill>
                  <a:srgbClr val="183249"/>
                </a:solidFill>
              </a:defRPr>
            </a:lvl2pPr>
            <a:lvl3pPr>
              <a:defRPr sz="3827" b="0">
                <a:solidFill>
                  <a:srgbClr val="183249"/>
                </a:solidFill>
              </a:defRPr>
            </a:lvl3pPr>
            <a:lvl4pPr>
              <a:defRPr sz="3827" b="0">
                <a:solidFill>
                  <a:srgbClr val="183249"/>
                </a:solidFill>
              </a:defRPr>
            </a:lvl4pPr>
            <a:lvl5pPr>
              <a:defRPr sz="3827" b="0">
                <a:solidFill>
                  <a:srgbClr val="183249"/>
                </a:solidFill>
              </a:defRPr>
            </a:lvl5pPr>
            <a:lvl6pPr>
              <a:defRPr sz="3827" b="0">
                <a:solidFill>
                  <a:srgbClr val="183249"/>
                </a:solidFill>
              </a:defRPr>
            </a:lvl6pPr>
            <a:lvl7pPr>
              <a:defRPr sz="3827" b="0">
                <a:solidFill>
                  <a:srgbClr val="183249"/>
                </a:solidFill>
              </a:defRPr>
            </a:lvl7pPr>
            <a:lvl8pPr>
              <a:defRPr sz="3827" b="0">
                <a:solidFill>
                  <a:srgbClr val="183249"/>
                </a:solidFill>
              </a:defRPr>
            </a:lvl8pPr>
            <a:lvl9pPr>
              <a:defRPr sz="3827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827" b="0">
                <a:solidFill>
                  <a:srgbClr val="183249"/>
                </a:solidFill>
              </a:defRPr>
            </a:pPr>
            <a: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김군협¹, 정승진¹, 오상준¹, 채인영¹, 김서환¹, 신민영¹, 이수지¹*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69C48E9-93E8-4E1F-9C10-77613D5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6642000"/>
            <a:ext cx="2980800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02" b="0">
                <a:solidFill>
                  <a:srgbClr val="4D6170"/>
                </a:solidFill>
              </a:defRPr>
            </a:defPPr>
            <a:lvl1pPr>
              <a:defRPr sz="3402" b="0">
                <a:solidFill>
                  <a:srgbClr val="4D6170"/>
                </a:solidFill>
              </a:defRPr>
            </a:lvl1pPr>
            <a:lvl2pPr>
              <a:defRPr sz="3402" b="0">
                <a:solidFill>
                  <a:srgbClr val="4D6170"/>
                </a:solidFill>
              </a:defRPr>
            </a:lvl2pPr>
            <a:lvl3pPr>
              <a:defRPr sz="3402" b="0">
                <a:solidFill>
                  <a:srgbClr val="4D6170"/>
                </a:solidFill>
              </a:defRPr>
            </a:lvl3pPr>
            <a:lvl4pPr>
              <a:defRPr sz="3402" b="0">
                <a:solidFill>
                  <a:srgbClr val="4D6170"/>
                </a:solidFill>
              </a:defRPr>
            </a:lvl4pPr>
            <a:lvl5pPr>
              <a:defRPr sz="3402" b="0">
                <a:solidFill>
                  <a:srgbClr val="4D6170"/>
                </a:solidFill>
              </a:defRPr>
            </a:lvl5pPr>
            <a:lvl6pPr>
              <a:defRPr sz="3402" b="0">
                <a:solidFill>
                  <a:srgbClr val="4D6170"/>
                </a:solidFill>
              </a:defRPr>
            </a:lvl6pPr>
            <a:lvl7pPr>
              <a:defRPr sz="3402" b="0">
                <a:solidFill>
                  <a:srgbClr val="4D6170"/>
                </a:solidFill>
              </a:defRPr>
            </a:lvl7pPr>
            <a:lvl8pPr>
              <a:defRPr sz="3402" b="0">
                <a:solidFill>
                  <a:srgbClr val="4D6170"/>
                </a:solidFill>
              </a:defRPr>
            </a:lvl8pPr>
            <a:lvl9pPr>
              <a:defRPr sz="3402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3402" b="0">
                <a:solidFill>
                  <a:srgbClr val="4D6170"/>
                </a:solidFill>
              </a:defRPr>
            </a:pPr>
            <a:r>
              <a:rPr sz="3402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¹성균관대학교 공과대학 시스템경영공학과, 대한민국</a:t>
            </a:r>
          </a:p>
        </p:txBody>
      </p:sp>
      <p:sp>
        <p:nvSpPr>
          <p:cNvPr id="6" name="rule-48-292">
            <a:extLst xmlns:a="http://schemas.openxmlformats.org/drawingml/2006/main">
              <a:ext uri="{FF2B5EF4-FFF2-40B4-BE49-F238E27FC236}">
                <a16:creationId xmlns:a16="http://schemas.microsoft.com/office/drawing/2014/main" id="{ED4AE12E-28A1-4934-A569-E7813E9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7884000"/>
            <a:ext cx="29808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2"/>
          </a:solidFill>
          <a:ln xmlns:a="http://schemas.openxmlformats.org/drawingml/2006/main" w="0">
            <a:noFill/>
          </a:ln>
        </p:spPr>
      </p:sp>
      <p:sp>
        <p:nvSpPr>
          <p:cNvPr id="7" name="extension-title">
            <a:extLst xmlns:a="http://schemas.openxmlformats.org/drawingml/2006/main">
              <a:ext uri="{FF2B5EF4-FFF2-40B4-BE49-F238E27FC236}">
                <a16:creationId xmlns:a16="http://schemas.microsoft.com/office/drawing/2014/main" id="{C2C56CCE-0E59-4BD2-BD7C-DA8572F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8451000"/>
            <a:ext cx="29808000" cy="12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40" b="1">
                <a:solidFill>
                  <a:srgbClr val="087F82"/>
                </a:solidFill>
              </a:defRPr>
            </a:defPPr>
            <a:lvl1pPr>
              <a:defRPr sz="5740" b="1">
                <a:solidFill>
                  <a:srgbClr val="087F82"/>
                </a:solidFill>
              </a:defRPr>
            </a:lvl1pPr>
            <a:lvl2pPr>
              <a:defRPr sz="5740" b="1">
                <a:solidFill>
                  <a:srgbClr val="087F82"/>
                </a:solidFill>
              </a:defRPr>
            </a:lvl2pPr>
            <a:lvl3pPr>
              <a:defRPr sz="5740" b="1">
                <a:solidFill>
                  <a:srgbClr val="087F82"/>
                </a:solidFill>
              </a:defRPr>
            </a:lvl3pPr>
            <a:lvl4pPr>
              <a:defRPr sz="5740" b="1">
                <a:solidFill>
                  <a:srgbClr val="087F82"/>
                </a:solidFill>
              </a:defRPr>
            </a:lvl4pPr>
            <a:lvl5pPr>
              <a:defRPr sz="5740" b="1">
                <a:solidFill>
                  <a:srgbClr val="087F82"/>
                </a:solidFill>
              </a:defRPr>
            </a:lvl5pPr>
            <a:lvl6pPr>
              <a:defRPr sz="5740" b="1">
                <a:solidFill>
                  <a:srgbClr val="087F82"/>
                </a:solidFill>
              </a:defRPr>
            </a:lvl6pPr>
            <a:lvl7pPr>
              <a:defRPr sz="5740" b="1">
                <a:solidFill>
                  <a:srgbClr val="087F82"/>
                </a:solidFill>
              </a:defRPr>
            </a:lvl7pPr>
            <a:lvl8pPr>
              <a:defRPr sz="5740" b="1">
                <a:solidFill>
                  <a:srgbClr val="087F82"/>
                </a:solidFill>
              </a:defRPr>
            </a:lvl8pPr>
            <a:lvl9pPr>
              <a:defRPr sz="5740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740" b="1">
                <a:solidFill>
                  <a:srgbClr val="087F82"/>
                </a:solidFill>
              </a:defRPr>
            </a:pPr>
            <a:r>
              <a:rPr sz="5740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추가 연구: 관측 근거와 위험 교정을 이용한 선택적 재확인</a:t>
            </a:r>
          </a:p>
        </p:txBody>
      </p:sp>
      <p:sp>
        <p:nvSpPr>
          <p:cNvPr id="8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8BC7A247-F9BB-4684-9D1F-59AFA797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9963000"/>
            <a:ext cx="29808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315" b="1">
                <a:solidFill>
                  <a:srgbClr val="183249"/>
                </a:solidFill>
              </a:defRPr>
            </a:defPPr>
            <a:lvl1pPr>
              <a:defRPr sz="5315" b="1">
                <a:solidFill>
                  <a:srgbClr val="183249"/>
                </a:solidFill>
              </a:defRPr>
            </a:lvl1pPr>
            <a:lvl2pPr>
              <a:defRPr sz="5315" b="1">
                <a:solidFill>
                  <a:srgbClr val="183249"/>
                </a:solidFill>
              </a:defRPr>
            </a:lvl2pPr>
            <a:lvl3pPr>
              <a:defRPr sz="5315" b="1">
                <a:solidFill>
                  <a:srgbClr val="183249"/>
                </a:solidFill>
              </a:defRPr>
            </a:lvl3pPr>
            <a:lvl4pPr>
              <a:defRPr sz="5315" b="1">
                <a:solidFill>
                  <a:srgbClr val="183249"/>
                </a:solidFill>
              </a:defRPr>
            </a:lvl4pPr>
            <a:lvl5pPr>
              <a:defRPr sz="5315" b="1">
                <a:solidFill>
                  <a:srgbClr val="183249"/>
                </a:solidFill>
              </a:defRPr>
            </a:lvl5pPr>
            <a:lvl6pPr>
              <a:defRPr sz="5315" b="1">
                <a:solidFill>
                  <a:srgbClr val="183249"/>
                </a:solidFill>
              </a:defRPr>
            </a:lvl6pPr>
            <a:lvl7pPr>
              <a:defRPr sz="5315" b="1">
                <a:solidFill>
                  <a:srgbClr val="183249"/>
                </a:solidFill>
              </a:defRPr>
            </a:lvl7pPr>
            <a:lvl8pPr>
              <a:defRPr sz="5315" b="1">
                <a:solidFill>
                  <a:srgbClr val="183249"/>
                </a:solidFill>
              </a:defRPr>
            </a:lvl8pPr>
            <a:lvl9pPr>
              <a:defRPr sz="5315" b="1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5315" b="1">
                <a:solidFill>
                  <a:srgbClr val="183249"/>
                </a:solidFill>
              </a:defRPr>
            </a:pPr>
            <a:r>
              <a:rPr sz="5315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같은 위험 교정 목표에서 올바른 판정을 늘리고 방문을 줄였습니다.</a:t>
            </a:r>
          </a:p>
        </p:txBody>
      </p:sp>
      <p:sp>
        <p:nvSpPr>
          <p:cNvPr id="9" name="problem">
            <a:extLst xmlns:a="http://schemas.openxmlformats.org/drawingml/2006/main">
              <a:ext uri="{FF2B5EF4-FFF2-40B4-BE49-F238E27FC236}">
                <a16:creationId xmlns:a16="http://schemas.microsoft.com/office/drawing/2014/main" id="{9401E6B8-EB85-4F07-97FC-53557AE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1988000"/>
            <a:ext cx="14040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315" b="1">
                <a:solidFill>
                  <a:srgbClr val="087F82"/>
                </a:solidFill>
              </a:defRPr>
            </a:defPPr>
            <a:lvl1pPr>
              <a:defRPr sz="5315" b="1">
                <a:solidFill>
                  <a:srgbClr val="087F82"/>
                </a:solidFill>
              </a:defRPr>
            </a:lvl1pPr>
            <a:lvl2pPr>
              <a:defRPr sz="5315" b="1">
                <a:solidFill>
                  <a:srgbClr val="087F82"/>
                </a:solidFill>
              </a:defRPr>
            </a:lvl2pPr>
            <a:lvl3pPr>
              <a:defRPr sz="5315" b="1">
                <a:solidFill>
                  <a:srgbClr val="087F82"/>
                </a:solidFill>
              </a:defRPr>
            </a:lvl3pPr>
            <a:lvl4pPr>
              <a:defRPr sz="5315" b="1">
                <a:solidFill>
                  <a:srgbClr val="087F82"/>
                </a:solidFill>
              </a:defRPr>
            </a:lvl4pPr>
            <a:lvl5pPr>
              <a:defRPr sz="5315" b="1">
                <a:solidFill>
                  <a:srgbClr val="087F82"/>
                </a:solidFill>
              </a:defRPr>
            </a:lvl5pPr>
            <a:lvl6pPr>
              <a:defRPr sz="5315" b="1">
                <a:solidFill>
                  <a:srgbClr val="087F82"/>
                </a:solidFill>
              </a:defRPr>
            </a:lvl6pPr>
            <a:lvl7pPr>
              <a:defRPr sz="5315" b="1">
                <a:solidFill>
                  <a:srgbClr val="087F82"/>
                </a:solidFill>
              </a:defRPr>
            </a:lvl7pPr>
            <a:lvl8pPr>
              <a:defRPr sz="5315" b="1">
                <a:solidFill>
                  <a:srgbClr val="087F82"/>
                </a:solidFill>
              </a:defRPr>
            </a:lvl8pPr>
            <a:lvl9pPr>
              <a:defRPr sz="5315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315" b="1">
                <a:solidFill>
                  <a:srgbClr val="087F82"/>
                </a:solidFill>
              </a:defRPr>
            </a:pPr>
            <a:r>
              <a:rPr sz="5315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문제와 연구 질문 [1]</a:t>
            </a:r>
          </a:p>
        </p:txBody>
      </p:sp>
      <p:sp>
        <p:nvSpPr>
          <p:cNvPr id="10" name="rule-48-489">
            <a:extLst xmlns:a="http://schemas.openxmlformats.org/drawingml/2006/main">
              <a:ext uri="{FF2B5EF4-FFF2-40B4-BE49-F238E27FC236}">
                <a16:creationId xmlns:a16="http://schemas.microsoft.com/office/drawing/2014/main" id="{972FADFA-735E-4AE6-B086-3777029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3203000"/>
            <a:ext cx="140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F"/>
          </a:solidFill>
          <a:ln xmlns:a="http://schemas.openxmlformats.org/drawingml/2006/main" w="0">
            <a:noFill/>
          </a:ln>
        </p:spPr>
      </p:sp>
      <p:sp>
        <p:nvSpPr>
          <p:cNvPr id="11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3F9B3BE2-1F9E-4CE5-8CBF-CAF4434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3689000"/>
            <a:ext cx="14040000" cy="28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827" b="0">
                <a:solidFill>
                  <a:srgbClr val="183249"/>
                </a:solidFill>
              </a:defRPr>
            </a:defPPr>
            <a:lvl1pPr>
              <a:defRPr sz="3827" b="0">
                <a:solidFill>
                  <a:srgbClr val="183249"/>
                </a:solidFill>
              </a:defRPr>
            </a:lvl1pPr>
            <a:lvl2pPr>
              <a:defRPr sz="3827" b="0">
                <a:solidFill>
                  <a:srgbClr val="183249"/>
                </a:solidFill>
              </a:defRPr>
            </a:lvl2pPr>
            <a:lvl3pPr>
              <a:defRPr sz="3827" b="0">
                <a:solidFill>
                  <a:srgbClr val="183249"/>
                </a:solidFill>
              </a:defRPr>
            </a:lvl3pPr>
            <a:lvl4pPr>
              <a:defRPr sz="3827" b="0">
                <a:solidFill>
                  <a:srgbClr val="183249"/>
                </a:solidFill>
              </a:defRPr>
            </a:lvl4pPr>
            <a:lvl5pPr>
              <a:defRPr sz="3827" b="0">
                <a:solidFill>
                  <a:srgbClr val="183249"/>
                </a:solidFill>
              </a:defRPr>
            </a:lvl5pPr>
            <a:lvl6pPr>
              <a:defRPr sz="3827" b="0">
                <a:solidFill>
                  <a:srgbClr val="183249"/>
                </a:solidFill>
              </a:defRPr>
            </a:lvl6pPr>
            <a:lvl7pPr>
              <a:defRPr sz="3827" b="0">
                <a:solidFill>
                  <a:srgbClr val="183249"/>
                </a:solidFill>
              </a:defRPr>
            </a:lvl7pPr>
            <a:lvl8pPr>
              <a:defRPr sz="3827" b="0">
                <a:solidFill>
                  <a:srgbClr val="183249"/>
                </a:solidFill>
              </a:defRPr>
            </a:lvl8pPr>
            <a:lvl9pPr>
              <a:defRPr sz="3827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827" b="0">
                <a:solidFill>
                  <a:srgbClr val="183249"/>
                </a:solidFill>
              </a:defRPr>
            </a:pPr>
            <a: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첫 기록을 바로 믿으면 잘못 판정할 수 있습니다.</a:t>
            </a:r>
            <a:b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모든 자료를 두 번 확인하면 다른 후보를 볼 기회를 잃습니다.</a:t>
            </a:r>
            <a:b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827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어떤 자료를 얻고, 어느 자료를 다시 확인해야 할까요?</a:t>
            </a:r>
          </a:p>
        </p:txBody>
      </p:sp>
      <p:sp>
        <p:nvSpPr>
          <p:cNvPr id="12" name="method">
            <a:extLst xmlns:a="http://schemas.openxmlformats.org/drawingml/2006/main">
              <a:ext uri="{FF2B5EF4-FFF2-40B4-BE49-F238E27FC236}">
                <a16:creationId xmlns:a16="http://schemas.microsoft.com/office/drawing/2014/main" id="{E6B0002C-77C6-4E2C-B7B8-13FC5AE4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6416000"/>
            <a:ext cx="14040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315" b="1">
                <a:solidFill>
                  <a:srgbClr val="087F82"/>
                </a:solidFill>
              </a:defRPr>
            </a:defPPr>
            <a:lvl1pPr>
              <a:defRPr sz="5315" b="1">
                <a:solidFill>
                  <a:srgbClr val="087F82"/>
                </a:solidFill>
              </a:defRPr>
            </a:lvl1pPr>
            <a:lvl2pPr>
              <a:defRPr sz="5315" b="1">
                <a:solidFill>
                  <a:srgbClr val="087F82"/>
                </a:solidFill>
              </a:defRPr>
            </a:lvl2pPr>
            <a:lvl3pPr>
              <a:defRPr sz="5315" b="1">
                <a:solidFill>
                  <a:srgbClr val="087F82"/>
                </a:solidFill>
              </a:defRPr>
            </a:lvl3pPr>
            <a:lvl4pPr>
              <a:defRPr sz="5315" b="1">
                <a:solidFill>
                  <a:srgbClr val="087F82"/>
                </a:solidFill>
              </a:defRPr>
            </a:lvl4pPr>
            <a:lvl5pPr>
              <a:defRPr sz="5315" b="1">
                <a:solidFill>
                  <a:srgbClr val="087F82"/>
                </a:solidFill>
              </a:defRPr>
            </a:lvl5pPr>
            <a:lvl6pPr>
              <a:defRPr sz="5315" b="1">
                <a:solidFill>
                  <a:srgbClr val="087F82"/>
                </a:solidFill>
              </a:defRPr>
            </a:lvl6pPr>
            <a:lvl7pPr>
              <a:defRPr sz="5315" b="1">
                <a:solidFill>
                  <a:srgbClr val="087F82"/>
                </a:solidFill>
              </a:defRPr>
            </a:lvl7pPr>
            <a:lvl8pPr>
              <a:defRPr sz="5315" b="1">
                <a:solidFill>
                  <a:srgbClr val="087F82"/>
                </a:solidFill>
              </a:defRPr>
            </a:lvl8pPr>
            <a:lvl9pPr>
              <a:defRPr sz="5315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315" b="1">
                <a:solidFill>
                  <a:srgbClr val="087F82"/>
                </a:solidFill>
              </a:defRPr>
            </a:pPr>
            <a:r>
              <a:rPr sz="5315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방법: 필요한 위치만 재확인</a:t>
            </a:r>
          </a:p>
        </p:txBody>
      </p:sp>
      <p:sp>
        <p:nvSpPr>
          <p:cNvPr id="13" name="rule-48-653">
            <a:extLst xmlns:a="http://schemas.openxmlformats.org/drawingml/2006/main">
              <a:ext uri="{FF2B5EF4-FFF2-40B4-BE49-F238E27FC236}">
                <a16:creationId xmlns:a16="http://schemas.microsoft.com/office/drawing/2014/main" id="{2426B16B-1E77-43A4-B375-326F405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7631000"/>
            <a:ext cx="140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F"/>
          </a:solidFill>
          <a:ln xmlns:a="http://schemas.openxmlformats.org/drawingml/2006/main" w="0">
            <a:noFill/>
          </a:ln>
        </p:spPr>
      </p:sp>
      <p:sp>
        <p:nvSpPr>
          <p:cNvPr id="14" name="step-one">
            <a:extLst xmlns:a="http://schemas.openxmlformats.org/drawingml/2006/main">
              <a:ext uri="{FF2B5EF4-FFF2-40B4-BE49-F238E27FC236}">
                <a16:creationId xmlns:a16="http://schemas.microsoft.com/office/drawing/2014/main" id="{E48A9D66-1065-44F9-9411-7EF64D3D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18144000"/>
            <a:ext cx="14040000" cy="9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52" b="1">
                <a:solidFill>
                  <a:srgbClr val="183249"/>
                </a:solidFill>
              </a:defRPr>
            </a:defPPr>
            <a:lvl1pPr>
              <a:defRPr sz="4252" b="1">
                <a:solidFill>
                  <a:srgbClr val="183249"/>
                </a:solidFill>
              </a:defRPr>
            </a:lvl1pPr>
            <a:lvl2pPr>
              <a:defRPr sz="4252" b="1">
                <a:solidFill>
                  <a:srgbClr val="183249"/>
                </a:solidFill>
              </a:defRPr>
            </a:lvl2pPr>
            <a:lvl3pPr>
              <a:defRPr sz="4252" b="1">
                <a:solidFill>
                  <a:srgbClr val="183249"/>
                </a:solidFill>
              </a:defRPr>
            </a:lvl3pPr>
            <a:lvl4pPr>
              <a:defRPr sz="4252" b="1">
                <a:solidFill>
                  <a:srgbClr val="183249"/>
                </a:solidFill>
              </a:defRPr>
            </a:lvl4pPr>
            <a:lvl5pPr>
              <a:defRPr sz="4252" b="1">
                <a:solidFill>
                  <a:srgbClr val="183249"/>
                </a:solidFill>
              </a:defRPr>
            </a:lvl5pPr>
            <a:lvl6pPr>
              <a:defRPr sz="4252" b="1">
                <a:solidFill>
                  <a:srgbClr val="183249"/>
                </a:solidFill>
              </a:defRPr>
            </a:lvl6pPr>
            <a:lvl7pPr>
              <a:defRPr sz="4252" b="1">
                <a:solidFill>
                  <a:srgbClr val="183249"/>
                </a:solidFill>
              </a:defRPr>
            </a:lvl7pPr>
            <a:lvl8pPr>
              <a:defRPr sz="4252" b="1">
                <a:solidFill>
                  <a:srgbClr val="183249"/>
                </a:solidFill>
              </a:defRPr>
            </a:lvl8pPr>
            <a:lvl9pPr>
              <a:defRPr sz="4252" b="1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4252" b="1">
                <a:solidFill>
                  <a:srgbClr val="183249"/>
                </a:solidFill>
              </a:defRPr>
            </a:pPr>
            <a:r>
              <a:rPr sz="4252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1. 관측된 자료가 결론을 뒷받침하는가?</a:t>
            </a:r>
          </a:p>
        </p:txBody>
      </p:sp>
      <p:sp>
        <p:nvSpPr>
          <p:cNvPr id="15" name="step-one-detail">
            <a:extLst xmlns:a="http://schemas.openxmlformats.org/drawingml/2006/main">
              <a:ext uri="{FF2B5EF4-FFF2-40B4-BE49-F238E27FC236}">
                <a16:creationId xmlns:a16="http://schemas.microsoft.com/office/drawing/2014/main" id="{FA18AB90-4545-4258-BBBD-6834A1C1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00" y="19224000"/>
            <a:ext cx="13473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14" b="0">
                <a:solidFill>
                  <a:srgbClr val="183249"/>
                </a:solidFill>
              </a:defRPr>
            </a:defPPr>
            <a:lvl1pPr>
              <a:defRPr sz="3614" b="0">
                <a:solidFill>
                  <a:srgbClr val="183249"/>
                </a:solidFill>
              </a:defRPr>
            </a:lvl1pPr>
            <a:lvl2pPr>
              <a:defRPr sz="3614" b="0">
                <a:solidFill>
                  <a:srgbClr val="183249"/>
                </a:solidFill>
              </a:defRPr>
            </a:lvl2pPr>
            <a:lvl3pPr>
              <a:defRPr sz="3614" b="0">
                <a:solidFill>
                  <a:srgbClr val="183249"/>
                </a:solidFill>
              </a:defRPr>
            </a:lvl3pPr>
            <a:lvl4pPr>
              <a:defRPr sz="3614" b="0">
                <a:solidFill>
                  <a:srgbClr val="183249"/>
                </a:solidFill>
              </a:defRPr>
            </a:lvl4pPr>
            <a:lvl5pPr>
              <a:defRPr sz="3614" b="0">
                <a:solidFill>
                  <a:srgbClr val="183249"/>
                </a:solidFill>
              </a:defRPr>
            </a:lvl5pPr>
            <a:lvl6pPr>
              <a:defRPr sz="3614" b="0">
                <a:solidFill>
                  <a:srgbClr val="183249"/>
                </a:solidFill>
              </a:defRPr>
            </a:lvl6pPr>
            <a:lvl7pPr>
              <a:defRPr sz="3614" b="0">
                <a:solidFill>
                  <a:srgbClr val="183249"/>
                </a:solidFill>
              </a:defRPr>
            </a:lvl7pPr>
            <a:lvl8pPr>
              <a:defRPr sz="3614" b="0">
                <a:solidFill>
                  <a:srgbClr val="183249"/>
                </a:solidFill>
              </a:defRPr>
            </a:lvl8pPr>
            <a:lvl9pPr>
              <a:defRPr sz="3614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614" b="0">
                <a:solidFill>
                  <a:srgbClr val="183249"/>
                </a:solidFill>
              </a:defRPr>
            </a:pP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실제 보고가 조건 충족·위반의 논리 근거여야 합니다.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없는 값을 예측해 채운 것만으로 결론을 내리지 않습니다.</a:t>
            </a:r>
          </a:p>
        </p:txBody>
      </p:sp>
      <p:sp>
        <p:nvSpPr>
          <p:cNvPr id="16" name="step-two">
            <a:extLst xmlns:a="http://schemas.openxmlformats.org/drawingml/2006/main">
              <a:ext uri="{FF2B5EF4-FFF2-40B4-BE49-F238E27FC236}">
                <a16:creationId xmlns:a16="http://schemas.microsoft.com/office/drawing/2014/main" id="{6A7DD03F-E2EF-4B5A-82D8-20907E65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1330000"/>
            <a:ext cx="14040000" cy="9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52" b="1">
                <a:solidFill>
                  <a:srgbClr val="183249"/>
                </a:solidFill>
              </a:defRPr>
            </a:defPPr>
            <a:lvl1pPr>
              <a:defRPr sz="4252" b="1">
                <a:solidFill>
                  <a:srgbClr val="183249"/>
                </a:solidFill>
              </a:defRPr>
            </a:lvl1pPr>
            <a:lvl2pPr>
              <a:defRPr sz="4252" b="1">
                <a:solidFill>
                  <a:srgbClr val="183249"/>
                </a:solidFill>
              </a:defRPr>
            </a:lvl2pPr>
            <a:lvl3pPr>
              <a:defRPr sz="4252" b="1">
                <a:solidFill>
                  <a:srgbClr val="183249"/>
                </a:solidFill>
              </a:defRPr>
            </a:lvl3pPr>
            <a:lvl4pPr>
              <a:defRPr sz="4252" b="1">
                <a:solidFill>
                  <a:srgbClr val="183249"/>
                </a:solidFill>
              </a:defRPr>
            </a:lvl4pPr>
            <a:lvl5pPr>
              <a:defRPr sz="4252" b="1">
                <a:solidFill>
                  <a:srgbClr val="183249"/>
                </a:solidFill>
              </a:defRPr>
            </a:lvl5pPr>
            <a:lvl6pPr>
              <a:defRPr sz="4252" b="1">
                <a:solidFill>
                  <a:srgbClr val="183249"/>
                </a:solidFill>
              </a:defRPr>
            </a:lvl6pPr>
            <a:lvl7pPr>
              <a:defRPr sz="4252" b="1">
                <a:solidFill>
                  <a:srgbClr val="183249"/>
                </a:solidFill>
              </a:defRPr>
            </a:lvl7pPr>
            <a:lvl8pPr>
              <a:defRPr sz="4252" b="1">
                <a:solidFill>
                  <a:srgbClr val="183249"/>
                </a:solidFill>
              </a:defRPr>
            </a:lvl8pPr>
            <a:lvl9pPr>
              <a:defRPr sz="4252" b="1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4252" b="1">
                <a:solidFill>
                  <a:srgbClr val="183249"/>
                </a:solidFill>
              </a:defRPr>
            </a:pPr>
            <a:r>
              <a:rPr sz="4252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2. 오류 점수가 충분히 낮은가?</a:t>
            </a:r>
          </a:p>
        </p:txBody>
      </p:sp>
      <p:sp>
        <p:nvSpPr>
          <p:cNvPr id="17" name="step-two-detail">
            <a:extLst xmlns:a="http://schemas.openxmlformats.org/drawingml/2006/main">
              <a:ext uri="{FF2B5EF4-FFF2-40B4-BE49-F238E27FC236}">
                <a16:creationId xmlns:a16="http://schemas.microsoft.com/office/drawing/2014/main" id="{9DA31EE4-148B-40E5-A199-B1307E05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00" y="22410000"/>
            <a:ext cx="13473000" cy="167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14" b="0">
                <a:solidFill>
                  <a:srgbClr val="183249"/>
                </a:solidFill>
              </a:defRPr>
            </a:defPPr>
            <a:lvl1pPr>
              <a:defRPr sz="3614" b="0">
                <a:solidFill>
                  <a:srgbClr val="183249"/>
                </a:solidFill>
              </a:defRPr>
            </a:lvl1pPr>
            <a:lvl2pPr>
              <a:defRPr sz="3614" b="0">
                <a:solidFill>
                  <a:srgbClr val="183249"/>
                </a:solidFill>
              </a:defRPr>
            </a:lvl2pPr>
            <a:lvl3pPr>
              <a:defRPr sz="3614" b="0">
                <a:solidFill>
                  <a:srgbClr val="183249"/>
                </a:solidFill>
              </a:defRPr>
            </a:lvl3pPr>
            <a:lvl4pPr>
              <a:defRPr sz="3614" b="0">
                <a:solidFill>
                  <a:srgbClr val="183249"/>
                </a:solidFill>
              </a:defRPr>
            </a:lvl4pPr>
            <a:lvl5pPr>
              <a:defRPr sz="3614" b="0">
                <a:solidFill>
                  <a:srgbClr val="183249"/>
                </a:solidFill>
              </a:defRPr>
            </a:lvl5pPr>
            <a:lvl6pPr>
              <a:defRPr sz="3614" b="0">
                <a:solidFill>
                  <a:srgbClr val="183249"/>
                </a:solidFill>
              </a:defRPr>
            </a:lvl6pPr>
            <a:lvl7pPr>
              <a:defRPr sz="3614" b="0">
                <a:solidFill>
                  <a:srgbClr val="183249"/>
                </a:solidFill>
              </a:defRPr>
            </a:lvl7pPr>
            <a:lvl8pPr>
              <a:defRPr sz="3614" b="0">
                <a:solidFill>
                  <a:srgbClr val="183249"/>
                </a:solidFill>
              </a:defRPr>
            </a:lvl8pPr>
            <a:lvl9pPr>
              <a:defRPr sz="3614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614" b="0">
                <a:solidFill>
                  <a:srgbClr val="183249"/>
                </a:solidFill>
              </a:defRPr>
            </a:pP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반복된 같은 검사값은 한 번만 적분합니다.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점수가 기준을 넘으면 결론을 보류합니다.</a:t>
            </a:r>
          </a:p>
        </p:txBody>
      </p:sp>
      <p:sp>
        <p:nvSpPr>
          <p:cNvPr id="18" name="step-three">
            <a:extLst xmlns:a="http://schemas.openxmlformats.org/drawingml/2006/main">
              <a:ext uri="{FF2B5EF4-FFF2-40B4-BE49-F238E27FC236}">
                <a16:creationId xmlns:a16="http://schemas.microsoft.com/office/drawing/2014/main" id="{DBCA6779-2A13-4808-ACE9-4FF0BE17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4516000"/>
            <a:ext cx="14040000" cy="9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52" b="1">
                <a:solidFill>
                  <a:srgbClr val="183249"/>
                </a:solidFill>
              </a:defRPr>
            </a:defPPr>
            <a:lvl1pPr>
              <a:defRPr sz="4252" b="1">
                <a:solidFill>
                  <a:srgbClr val="183249"/>
                </a:solidFill>
              </a:defRPr>
            </a:lvl1pPr>
            <a:lvl2pPr>
              <a:defRPr sz="4252" b="1">
                <a:solidFill>
                  <a:srgbClr val="183249"/>
                </a:solidFill>
              </a:defRPr>
            </a:lvl2pPr>
            <a:lvl3pPr>
              <a:defRPr sz="4252" b="1">
                <a:solidFill>
                  <a:srgbClr val="183249"/>
                </a:solidFill>
              </a:defRPr>
            </a:lvl3pPr>
            <a:lvl4pPr>
              <a:defRPr sz="4252" b="1">
                <a:solidFill>
                  <a:srgbClr val="183249"/>
                </a:solidFill>
              </a:defRPr>
            </a:lvl4pPr>
            <a:lvl5pPr>
              <a:defRPr sz="4252" b="1">
                <a:solidFill>
                  <a:srgbClr val="183249"/>
                </a:solidFill>
              </a:defRPr>
            </a:lvl5pPr>
            <a:lvl6pPr>
              <a:defRPr sz="4252" b="1">
                <a:solidFill>
                  <a:srgbClr val="183249"/>
                </a:solidFill>
              </a:defRPr>
            </a:lvl6pPr>
            <a:lvl7pPr>
              <a:defRPr sz="4252" b="1">
                <a:solidFill>
                  <a:srgbClr val="183249"/>
                </a:solidFill>
              </a:defRPr>
            </a:lvl7pPr>
            <a:lvl8pPr>
              <a:defRPr sz="4252" b="1">
                <a:solidFill>
                  <a:srgbClr val="183249"/>
                </a:solidFill>
              </a:defRPr>
            </a:lvl8pPr>
            <a:lvl9pPr>
              <a:defRPr sz="4252" b="1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4252" b="1">
                <a:solidFill>
                  <a:srgbClr val="183249"/>
                </a:solidFill>
              </a:defRPr>
            </a:pPr>
            <a:r>
              <a:rPr sz="4252" b="1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3. 다음 자료 획득과 재확인을 함께 선택</a:t>
            </a:r>
          </a:p>
        </p:txBody>
      </p:sp>
      <p:sp>
        <p:nvSpPr>
          <p:cNvPr id="19" name="step-three-detail">
            <a:extLst xmlns:a="http://schemas.openxmlformats.org/drawingml/2006/main">
              <a:ext uri="{FF2B5EF4-FFF2-40B4-BE49-F238E27FC236}">
                <a16:creationId xmlns:a16="http://schemas.microsoft.com/office/drawing/2014/main" id="{5527A3C5-BA1C-4DF4-867A-5FB5CCF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00" y="25596000"/>
            <a:ext cx="13473000" cy="18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14" b="0">
                <a:solidFill>
                  <a:srgbClr val="183249"/>
                </a:solidFill>
              </a:defRPr>
            </a:defPPr>
            <a:lvl1pPr>
              <a:defRPr sz="3614" b="0">
                <a:solidFill>
                  <a:srgbClr val="183249"/>
                </a:solidFill>
              </a:defRPr>
            </a:lvl1pPr>
            <a:lvl2pPr>
              <a:defRPr sz="3614" b="0">
                <a:solidFill>
                  <a:srgbClr val="183249"/>
                </a:solidFill>
              </a:defRPr>
            </a:lvl2pPr>
            <a:lvl3pPr>
              <a:defRPr sz="3614" b="0">
                <a:solidFill>
                  <a:srgbClr val="183249"/>
                </a:solidFill>
              </a:defRPr>
            </a:lvl3pPr>
            <a:lvl4pPr>
              <a:defRPr sz="3614" b="0">
                <a:solidFill>
                  <a:srgbClr val="183249"/>
                </a:solidFill>
              </a:defRPr>
            </a:lvl4pPr>
            <a:lvl5pPr>
              <a:defRPr sz="3614" b="0">
                <a:solidFill>
                  <a:srgbClr val="183249"/>
                </a:solidFill>
              </a:defRPr>
            </a:lvl5pPr>
            <a:lvl6pPr>
              <a:defRPr sz="3614" b="0">
                <a:solidFill>
                  <a:srgbClr val="183249"/>
                </a:solidFill>
              </a:defRPr>
            </a:lvl6pPr>
            <a:lvl7pPr>
              <a:defRPr sz="3614" b="0">
                <a:solidFill>
                  <a:srgbClr val="183249"/>
                </a:solidFill>
              </a:defRPr>
            </a:lvl7pPr>
            <a:lvl8pPr>
              <a:defRPr sz="3614" b="0">
                <a:solidFill>
                  <a:srgbClr val="183249"/>
                </a:solidFill>
              </a:defRPr>
            </a:lvl8pPr>
            <a:lvl9pPr>
              <a:defRPr sz="3614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614" b="0">
                <a:solidFill>
                  <a:srgbClr val="183249"/>
                </a:solidFill>
              </a:defRPr>
            </a:pP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남은 확인 횟수와 방문 한도에서 두 단계 앞을 계산합니다.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관측 후 상태를 갱신하고 다시 선택하거나 종료합니다.</a:t>
            </a:r>
          </a:p>
        </p:txBody>
      </p:sp>
      <p:sp>
        <p:nvSpPr>
          <p:cNvPr id="20" name="calibration">
            <a:extLst xmlns:a="http://schemas.openxmlformats.org/drawingml/2006/main">
              <a:ext uri="{FF2B5EF4-FFF2-40B4-BE49-F238E27FC236}">
                <a16:creationId xmlns:a16="http://schemas.microsoft.com/office/drawing/2014/main" id="{2721BAA7-789B-44B5-991B-690228DB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8215000"/>
            <a:ext cx="14040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315" b="1">
                <a:solidFill>
                  <a:srgbClr val="087F82"/>
                </a:solidFill>
              </a:defRPr>
            </a:defPPr>
            <a:lvl1pPr>
              <a:defRPr sz="5315" b="1">
                <a:solidFill>
                  <a:srgbClr val="087F82"/>
                </a:solidFill>
              </a:defRPr>
            </a:lvl1pPr>
            <a:lvl2pPr>
              <a:defRPr sz="5315" b="1">
                <a:solidFill>
                  <a:srgbClr val="087F82"/>
                </a:solidFill>
              </a:defRPr>
            </a:lvl2pPr>
            <a:lvl3pPr>
              <a:defRPr sz="5315" b="1">
                <a:solidFill>
                  <a:srgbClr val="087F82"/>
                </a:solidFill>
              </a:defRPr>
            </a:lvl3pPr>
            <a:lvl4pPr>
              <a:defRPr sz="5315" b="1">
                <a:solidFill>
                  <a:srgbClr val="087F82"/>
                </a:solidFill>
              </a:defRPr>
            </a:lvl4pPr>
            <a:lvl5pPr>
              <a:defRPr sz="5315" b="1">
                <a:solidFill>
                  <a:srgbClr val="087F82"/>
                </a:solidFill>
              </a:defRPr>
            </a:lvl5pPr>
            <a:lvl6pPr>
              <a:defRPr sz="5315" b="1">
                <a:solidFill>
                  <a:srgbClr val="087F82"/>
                </a:solidFill>
              </a:defRPr>
            </a:lvl6pPr>
            <a:lvl7pPr>
              <a:defRPr sz="5315" b="1">
                <a:solidFill>
                  <a:srgbClr val="087F82"/>
                </a:solidFill>
              </a:defRPr>
            </a:lvl7pPr>
            <a:lvl8pPr>
              <a:defRPr sz="5315" b="1">
                <a:solidFill>
                  <a:srgbClr val="087F82"/>
                </a:solidFill>
              </a:defRPr>
            </a:lvl8pPr>
            <a:lvl9pPr>
              <a:defRPr sz="5315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315" b="1">
                <a:solidFill>
                  <a:srgbClr val="087F82"/>
                </a:solidFill>
              </a:defRPr>
            </a:pPr>
            <a:r>
              <a:rPr sz="5315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질문과 종료를 포함한 정책 전체 교정 [4]</a:t>
            </a:r>
          </a:p>
        </p:txBody>
      </p:sp>
      <p:sp>
        <p:nvSpPr>
          <p:cNvPr id="21" name="rule-48-1090">
            <a:extLst xmlns:a="http://schemas.openxmlformats.org/drawingml/2006/main">
              <a:ext uri="{FF2B5EF4-FFF2-40B4-BE49-F238E27FC236}">
                <a16:creationId xmlns:a16="http://schemas.microsoft.com/office/drawing/2014/main" id="{A7915FA7-4003-4D84-9A41-67E8750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9430000"/>
            <a:ext cx="140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F"/>
          </a:solidFill>
          <a:ln xmlns:a="http://schemas.openxmlformats.org/drawingml/2006/main" w="0">
            <a:noFill/>
          </a:ln>
        </p:spPr>
      </p:sp>
      <p:sp>
        <p:nvSpPr>
          <p:cNvPr id="22" name="calibration-body">
            <a:extLst xmlns:a="http://schemas.openxmlformats.org/drawingml/2006/main">
              <a:ext uri="{FF2B5EF4-FFF2-40B4-BE49-F238E27FC236}">
                <a16:creationId xmlns:a16="http://schemas.microsoft.com/office/drawing/2014/main" id="{480E0701-F541-4CEF-A12F-C86CA855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9916000"/>
            <a:ext cx="14040000" cy="34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14" b="0">
                <a:solidFill>
                  <a:srgbClr val="183249"/>
                </a:solidFill>
              </a:defRPr>
            </a:defPPr>
            <a:lvl1pPr>
              <a:defRPr sz="3614" b="0">
                <a:solidFill>
                  <a:srgbClr val="183249"/>
                </a:solidFill>
              </a:defRPr>
            </a:lvl1pPr>
            <a:lvl2pPr>
              <a:defRPr sz="3614" b="0">
                <a:solidFill>
                  <a:srgbClr val="183249"/>
                </a:solidFill>
              </a:defRPr>
            </a:lvl2pPr>
            <a:lvl3pPr>
              <a:defRPr sz="3614" b="0">
                <a:solidFill>
                  <a:srgbClr val="183249"/>
                </a:solidFill>
              </a:defRPr>
            </a:lvl3pPr>
            <a:lvl4pPr>
              <a:defRPr sz="3614" b="0">
                <a:solidFill>
                  <a:srgbClr val="183249"/>
                </a:solidFill>
              </a:defRPr>
            </a:lvl4pPr>
            <a:lvl5pPr>
              <a:defRPr sz="3614" b="0">
                <a:solidFill>
                  <a:srgbClr val="183249"/>
                </a:solidFill>
              </a:defRPr>
            </a:lvl5pPr>
            <a:lvl6pPr>
              <a:defRPr sz="3614" b="0">
                <a:solidFill>
                  <a:srgbClr val="183249"/>
                </a:solidFill>
              </a:defRPr>
            </a:lvl6pPr>
            <a:lvl7pPr>
              <a:defRPr sz="3614" b="0">
                <a:solidFill>
                  <a:srgbClr val="183249"/>
                </a:solidFill>
              </a:defRPr>
            </a:lvl7pPr>
            <a:lvl8pPr>
              <a:defRPr sz="3614" b="0">
                <a:solidFill>
                  <a:srgbClr val="183249"/>
                </a:solidFill>
              </a:defRPr>
            </a:lvl8pPr>
            <a:lvl9pPr>
              <a:defRPr sz="3614" b="0">
                <a:solidFill>
                  <a:srgbClr val="183249"/>
                </a:solidFill>
              </a:defRPr>
            </a:lvl9pPr>
          </a:lstStyle>
          <a:p xmlns:a="http://schemas.openxmlformats.org/drawingml/2006/main">
            <a:pPr>
              <a:defRPr sz="3614" b="0">
                <a:solidFill>
                  <a:srgbClr val="183249"/>
                </a:solidFill>
              </a:defRPr>
            </a:pP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질문·종료 규칙을 먼저 고정했습니다.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합성 환자 1,200명으로 정책을 교정했습니다.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목표는 새 결론 환자에서 하나라도 오판할 위험 5%입니다.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다른 합성 환자 1,200명에서 별도로 평가했습니다.</a:t>
            </a:r>
            <a:b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183249"/>
                </a:solidFill>
                <a:latin typeface="Malgun Gothic"/>
                <a:ea typeface="Malgun Gothic"/>
                <a:cs typeface="Malgun Gothic"/>
              </a:rPr>
              <a:t>비교군의 모형·판정기·확인 및 방문 한도는 같습니다.</a:t>
            </a:r>
          </a:p>
        </p:txBody>
      </p:sp>
      <p:sp>
        <p:nvSpPr>
          <p:cNvPr id="23" name="method-origin">
            <a:extLst xmlns:a="http://schemas.openxmlformats.org/drawingml/2006/main">
              <a:ext uri="{FF2B5EF4-FFF2-40B4-BE49-F238E27FC236}">
                <a16:creationId xmlns:a16="http://schemas.microsoft.com/office/drawing/2014/main" id="{B5C319D4-562C-473F-A914-37EDDD5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33750000"/>
            <a:ext cx="14040000" cy="25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14" b="0">
                <a:solidFill>
                  <a:srgbClr val="4D6170"/>
                </a:solidFill>
              </a:defRPr>
            </a:defPPr>
            <a:lvl1pPr>
              <a:defRPr sz="3614" b="0">
                <a:solidFill>
                  <a:srgbClr val="4D6170"/>
                </a:solidFill>
              </a:defRPr>
            </a:lvl1pPr>
            <a:lvl2pPr>
              <a:defRPr sz="3614" b="0">
                <a:solidFill>
                  <a:srgbClr val="4D6170"/>
                </a:solidFill>
              </a:defRPr>
            </a:lvl2pPr>
            <a:lvl3pPr>
              <a:defRPr sz="3614" b="0">
                <a:solidFill>
                  <a:srgbClr val="4D6170"/>
                </a:solidFill>
              </a:defRPr>
            </a:lvl3pPr>
            <a:lvl4pPr>
              <a:defRPr sz="3614" b="0">
                <a:solidFill>
                  <a:srgbClr val="4D6170"/>
                </a:solidFill>
              </a:defRPr>
            </a:lvl4pPr>
            <a:lvl5pPr>
              <a:defRPr sz="3614" b="0">
                <a:solidFill>
                  <a:srgbClr val="4D6170"/>
                </a:solidFill>
              </a:defRPr>
            </a:lvl5pPr>
            <a:lvl6pPr>
              <a:defRPr sz="3614" b="0">
                <a:solidFill>
                  <a:srgbClr val="4D6170"/>
                </a:solidFill>
              </a:defRPr>
            </a:lvl6pPr>
            <a:lvl7pPr>
              <a:defRPr sz="3614" b="0">
                <a:solidFill>
                  <a:srgbClr val="4D6170"/>
                </a:solidFill>
              </a:defRPr>
            </a:lvl7pPr>
            <a:lvl8pPr>
              <a:defRPr sz="3614" b="0">
                <a:solidFill>
                  <a:srgbClr val="4D6170"/>
                </a:solidFill>
              </a:defRPr>
            </a:lvl8pPr>
            <a:lvl9pPr>
              <a:defRPr sz="3614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3614" b="0">
                <a:solidFill>
                  <a:srgbClr val="4D6170"/>
                </a:solidFill>
              </a:defRPr>
            </a:pPr>
            <a:r>
              <a:rPr sz="3614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방법의 위치 [2–4]</a:t>
            </a:r>
            <a:br>
              <a:rPr sz="3614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결정 중심 정보 획득·선택적 예측의 원리를 사용했습니다.</a:t>
            </a:r>
            <a:br>
              <a:rPr sz="3614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3614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관측 근거 요구와 선택적 재확인을 결합한 문제별 방법입니다.</a:t>
            </a:r>
          </a:p>
        </p:txBody>
      </p:sp>
      <p:sp>
        <p:nvSpPr>
          <p:cNvPr id="24" name="results">
            <a:extLst xmlns:a="http://schemas.openxmlformats.org/drawingml/2006/main">
              <a:ext uri="{FF2B5EF4-FFF2-40B4-BE49-F238E27FC236}">
                <a16:creationId xmlns:a16="http://schemas.microsoft.com/office/drawing/2014/main" id="{673A5B7F-F5A8-4C8C-8D24-16FF4B25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11988000"/>
            <a:ext cx="14364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315" b="1">
                <a:solidFill>
                  <a:srgbClr val="087F82"/>
                </a:solidFill>
              </a:defRPr>
            </a:defPPr>
            <a:lvl1pPr>
              <a:defRPr sz="5315" b="1">
                <a:solidFill>
                  <a:srgbClr val="087F82"/>
                </a:solidFill>
              </a:defRPr>
            </a:lvl1pPr>
            <a:lvl2pPr>
              <a:defRPr sz="5315" b="1">
                <a:solidFill>
                  <a:srgbClr val="087F82"/>
                </a:solidFill>
              </a:defRPr>
            </a:lvl2pPr>
            <a:lvl3pPr>
              <a:defRPr sz="5315" b="1">
                <a:solidFill>
                  <a:srgbClr val="087F82"/>
                </a:solidFill>
              </a:defRPr>
            </a:lvl3pPr>
            <a:lvl4pPr>
              <a:defRPr sz="5315" b="1">
                <a:solidFill>
                  <a:srgbClr val="087F82"/>
                </a:solidFill>
              </a:defRPr>
            </a:lvl4pPr>
            <a:lvl5pPr>
              <a:defRPr sz="5315" b="1">
                <a:solidFill>
                  <a:srgbClr val="087F82"/>
                </a:solidFill>
              </a:defRPr>
            </a:lvl5pPr>
            <a:lvl6pPr>
              <a:defRPr sz="5315" b="1">
                <a:solidFill>
                  <a:srgbClr val="087F82"/>
                </a:solidFill>
              </a:defRPr>
            </a:lvl6pPr>
            <a:lvl7pPr>
              <a:defRPr sz="5315" b="1">
                <a:solidFill>
                  <a:srgbClr val="087F82"/>
                </a:solidFill>
              </a:defRPr>
            </a:lvl7pPr>
            <a:lvl8pPr>
              <a:defRPr sz="5315" b="1">
                <a:solidFill>
                  <a:srgbClr val="087F82"/>
                </a:solidFill>
              </a:defRPr>
            </a:lvl8pPr>
            <a:lvl9pPr>
              <a:defRPr sz="5315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5315" b="1">
                <a:solidFill>
                  <a:srgbClr val="087F82"/>
                </a:solidFill>
              </a:defRPr>
            </a:pPr>
            <a:r>
              <a:rPr sz="5315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결과: 동일 모형의 별도 합성 환자 비교</a:t>
            </a:r>
          </a:p>
        </p:txBody>
      </p:sp>
      <p:sp>
        <p:nvSpPr>
          <p:cNvPr id="25" name="rule-620-489">
            <a:extLst xmlns:a="http://schemas.openxmlformats.org/drawingml/2006/main">
              <a:ext uri="{FF2B5EF4-FFF2-40B4-BE49-F238E27FC236}">
                <a16:creationId xmlns:a16="http://schemas.microsoft.com/office/drawing/2014/main" id="{B359DF44-E239-4D04-811F-0E2931C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13203000"/>
            <a:ext cx="14364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F"/>
          </a:solidFill>
          <a:ln xmlns:a="http://schemas.openxmlformats.org/drawingml/2006/main" w="0">
            <a:noFill/>
          </a:ln>
        </p:spPr>
      </p:sp>
      <p:sp>
        <p:nvSpPr>
          <p:cNvPr id="26" name="correct-difference">
            <a:extLst xmlns:a="http://schemas.openxmlformats.org/drawingml/2006/main">
              <a:ext uri="{FF2B5EF4-FFF2-40B4-BE49-F238E27FC236}">
                <a16:creationId xmlns:a16="http://schemas.microsoft.com/office/drawing/2014/main" id="{90542FDE-8978-476E-8090-6CCB495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13635000"/>
            <a:ext cx="14364000" cy="14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803" b="1">
                <a:solidFill>
                  <a:srgbClr val="087F82"/>
                </a:solidFill>
              </a:defRPr>
            </a:defPPr>
            <a:lvl1pPr>
              <a:defRPr sz="6803" b="1">
                <a:solidFill>
                  <a:srgbClr val="087F82"/>
                </a:solidFill>
              </a:defRPr>
            </a:lvl1pPr>
            <a:lvl2pPr>
              <a:defRPr sz="6803" b="1">
                <a:solidFill>
                  <a:srgbClr val="087F82"/>
                </a:solidFill>
              </a:defRPr>
            </a:lvl2pPr>
            <a:lvl3pPr>
              <a:defRPr sz="6803" b="1">
                <a:solidFill>
                  <a:srgbClr val="087F82"/>
                </a:solidFill>
              </a:defRPr>
            </a:lvl3pPr>
            <a:lvl4pPr>
              <a:defRPr sz="6803" b="1">
                <a:solidFill>
                  <a:srgbClr val="087F82"/>
                </a:solidFill>
              </a:defRPr>
            </a:lvl4pPr>
            <a:lvl5pPr>
              <a:defRPr sz="6803" b="1">
                <a:solidFill>
                  <a:srgbClr val="087F82"/>
                </a:solidFill>
              </a:defRPr>
            </a:lvl5pPr>
            <a:lvl6pPr>
              <a:defRPr sz="6803" b="1">
                <a:solidFill>
                  <a:srgbClr val="087F82"/>
                </a:solidFill>
              </a:defRPr>
            </a:lvl6pPr>
            <a:lvl7pPr>
              <a:defRPr sz="6803" b="1">
                <a:solidFill>
                  <a:srgbClr val="087F82"/>
                </a:solidFill>
              </a:defRPr>
            </a:lvl7pPr>
            <a:lvl8pPr>
              <a:defRPr sz="6803" b="1">
                <a:solidFill>
                  <a:srgbClr val="087F82"/>
                </a:solidFill>
              </a:defRPr>
            </a:lvl8pPr>
            <a:lvl9pPr>
              <a:defRPr sz="6803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6803" b="1">
                <a:solidFill>
                  <a:srgbClr val="087F82"/>
                </a:solidFill>
              </a:defRPr>
            </a:pPr>
            <a:r>
              <a:rPr sz="6803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판정 일치 +3.10%포인트</a:t>
            </a:r>
          </a:p>
        </p:txBody>
      </p:sp>
      <p:sp>
        <p:nvSpPr>
          <p:cNvPr id="27" name="correct-ci">
            <a:extLst xmlns:a="http://schemas.openxmlformats.org/drawingml/2006/main">
              <a:ext uri="{FF2B5EF4-FFF2-40B4-BE49-F238E27FC236}">
                <a16:creationId xmlns:a16="http://schemas.microsoft.com/office/drawing/2014/main" id="{8E14B563-D607-4814-A517-E348323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15228000"/>
            <a:ext cx="14364000" cy="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89" b="0">
                <a:solidFill>
                  <a:srgbClr val="4D6170"/>
                </a:solidFill>
              </a:defRPr>
            </a:defPPr>
            <a:lvl1pPr>
              <a:defRPr sz="3189" b="0">
                <a:solidFill>
                  <a:srgbClr val="4D6170"/>
                </a:solidFill>
              </a:defRPr>
            </a:lvl1pPr>
            <a:lvl2pPr>
              <a:defRPr sz="3189" b="0">
                <a:solidFill>
                  <a:srgbClr val="4D6170"/>
                </a:solidFill>
              </a:defRPr>
            </a:lvl2pPr>
            <a:lvl3pPr>
              <a:defRPr sz="3189" b="0">
                <a:solidFill>
                  <a:srgbClr val="4D6170"/>
                </a:solidFill>
              </a:defRPr>
            </a:lvl3pPr>
            <a:lvl4pPr>
              <a:defRPr sz="3189" b="0">
                <a:solidFill>
                  <a:srgbClr val="4D6170"/>
                </a:solidFill>
              </a:defRPr>
            </a:lvl4pPr>
            <a:lvl5pPr>
              <a:defRPr sz="3189" b="0">
                <a:solidFill>
                  <a:srgbClr val="4D6170"/>
                </a:solidFill>
              </a:defRPr>
            </a:lvl5pPr>
            <a:lvl6pPr>
              <a:defRPr sz="3189" b="0">
                <a:solidFill>
                  <a:srgbClr val="4D6170"/>
                </a:solidFill>
              </a:defRPr>
            </a:lvl6pPr>
            <a:lvl7pPr>
              <a:defRPr sz="3189" b="0">
                <a:solidFill>
                  <a:srgbClr val="4D6170"/>
                </a:solidFill>
              </a:defRPr>
            </a:lvl7pPr>
            <a:lvl8pPr>
              <a:defRPr sz="3189" b="0">
                <a:solidFill>
                  <a:srgbClr val="4D6170"/>
                </a:solidFill>
              </a:defRPr>
            </a:lvl8pPr>
            <a:lvl9pPr>
              <a:defRPr sz="3189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3189" b="0">
                <a:solidFill>
                  <a:srgbClr val="4D6170"/>
                </a:solidFill>
              </a:defRPr>
            </a:pPr>
            <a:r>
              <a:rPr sz="3189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짝지은 환자 재표집 95% 구간 +2.29~+3.90%포인트</a:t>
            </a:r>
          </a:p>
        </p:txBody>
      </p: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9DDB519C-9B56-48A3-955A-AB9E065F2614}"/>
              </a:ext>
            </a:extLst>
          </p:cNvPr>
          <p:cNvGraphicFramePr/>
          <p:nvPr/>
        </p:nvGraphicFramePr>
        <p:xfrm>
          <a:off xmlns:a="http://schemas.openxmlformats.org/drawingml/2006/main" x="16740000" y="16362000"/>
          <a:ext xmlns:a="http://schemas.openxmlformats.org/drawingml/2006/main" cx="14364000" cy="513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dea7a04949425c"/>
          </a:graphicData>
        </a:graphic>
      </p:graphicFrame>
      <p:sp>
        <p:nvSpPr>
          <p:cNvPr id="29" name="visits-difference">
            <a:extLst xmlns:a="http://schemas.openxmlformats.org/drawingml/2006/main">
              <a:ext uri="{FF2B5EF4-FFF2-40B4-BE49-F238E27FC236}">
                <a16:creationId xmlns:a16="http://schemas.microsoft.com/office/drawing/2014/main" id="{FC223B04-EA5F-40ED-A110-B4BA0F3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22410000"/>
            <a:ext cx="14364000" cy="1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803" b="1">
                <a:solidFill>
                  <a:srgbClr val="087F82"/>
                </a:solidFill>
              </a:defRPr>
            </a:defPPr>
            <a:lvl1pPr>
              <a:defRPr sz="6803" b="1">
                <a:solidFill>
                  <a:srgbClr val="087F82"/>
                </a:solidFill>
              </a:defRPr>
            </a:lvl1pPr>
            <a:lvl2pPr>
              <a:defRPr sz="6803" b="1">
                <a:solidFill>
                  <a:srgbClr val="087F82"/>
                </a:solidFill>
              </a:defRPr>
            </a:lvl2pPr>
            <a:lvl3pPr>
              <a:defRPr sz="6803" b="1">
                <a:solidFill>
                  <a:srgbClr val="087F82"/>
                </a:solidFill>
              </a:defRPr>
            </a:lvl3pPr>
            <a:lvl4pPr>
              <a:defRPr sz="6803" b="1">
                <a:solidFill>
                  <a:srgbClr val="087F82"/>
                </a:solidFill>
              </a:defRPr>
            </a:lvl4pPr>
            <a:lvl5pPr>
              <a:defRPr sz="6803" b="1">
                <a:solidFill>
                  <a:srgbClr val="087F82"/>
                </a:solidFill>
              </a:defRPr>
            </a:lvl5pPr>
            <a:lvl6pPr>
              <a:defRPr sz="6803" b="1">
                <a:solidFill>
                  <a:srgbClr val="087F82"/>
                </a:solidFill>
              </a:defRPr>
            </a:lvl6pPr>
            <a:lvl7pPr>
              <a:defRPr sz="6803" b="1">
                <a:solidFill>
                  <a:srgbClr val="087F82"/>
                </a:solidFill>
              </a:defRPr>
            </a:lvl7pPr>
            <a:lvl8pPr>
              <a:defRPr sz="6803" b="1">
                <a:solidFill>
                  <a:srgbClr val="087F82"/>
                </a:solidFill>
              </a:defRPr>
            </a:lvl8pPr>
            <a:lvl9pPr>
              <a:defRPr sz="6803" b="1">
                <a:solidFill>
                  <a:srgbClr val="087F82"/>
                </a:solidFill>
              </a:defRPr>
            </a:lvl9pPr>
          </a:lstStyle>
          <a:p xmlns:a="http://schemas.openxmlformats.org/drawingml/2006/main">
            <a:pPr>
              <a:defRPr sz="6803" b="1">
                <a:solidFill>
                  <a:srgbClr val="087F82"/>
                </a:solidFill>
              </a:defRPr>
            </a:pPr>
            <a:r>
              <a:rPr sz="6803" b="1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방문 17.3% 감소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722E3498-C8E5-40AE-B09C-8041E7524DE5}"/>
              </a:ext>
            </a:extLst>
          </p:cNvPr>
          <p:cNvGraphicFramePr/>
          <p:nvPr/>
        </p:nvGraphicFramePr>
        <p:xfrm>
          <a:off xmlns:a="http://schemas.openxmlformats.org/drawingml/2006/main" x="16740000" y="23922000"/>
          <a:ext xmlns:a="http://schemas.openxmlformats.org/drawingml/2006/main" cx="14364000" cy="513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712bd664b44a36"/>
          </a:graphicData>
        </a:graphic>
      </p:graphicFrame>
      <p:graphicFrame>
        <p:nvGraphicFramePr>
          <p:cNvPr id="31" name="all-baselines">
            <a:extLst xmlns:a="http://schemas.openxmlformats.org/drawingml/2006/main">
              <a:ext uri="{FF2B5EF4-FFF2-40B4-BE49-F238E27FC236}">
                <a16:creationId xmlns:a16="http://schemas.microsoft.com/office/drawing/2014/main" id="{A224C321-F054-4784-A49B-0CD1C9143D01}"/>
              </a:ext>
            </a:extLst>
          </p:cNvPr>
          <p:cNvGraphicFramePr/>
          <p:nvPr/>
        </p:nvGraphicFramePr>
        <p:xfrm>
          <a:off xmlns:a="http://schemas.openxmlformats.org/drawingml/2006/main" x="16740000" y="29835000"/>
          <a:ext xmlns:a="http://schemas.openxmlformats.org/drawingml/2006/main" cx="14364000" cy="486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90000"/>
                <a:gridCol w="3915000"/>
                <a:gridCol w="3159000"/>
              </a:tblGrid>
              <a:tr h="972000"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선택 방법</a:t>
                      </a:r>
                    </a:p>
                  </a:txBody>
                  <a:tcPr marL="91440" marR="91440" marT="45720" marB="45720">
                    <a:lnL w="16200">
                      <a:solidFill>
                        <a:srgbClr val="CBDBDF"/>
                      </a:solidFill>
                      <a:prstDash val="solid"/>
                    </a:lnL>
                    <a:lnR w="16200">
                      <a:solidFill>
                        <a:srgbClr val="CBDBDF"/>
                      </a:solidFill>
                      <a:prstDash val="solid"/>
                    </a:lnR>
                    <a:lnT w="16200">
                      <a:solidFill>
                        <a:srgbClr val="CBDBDF"/>
                      </a:solidFill>
                      <a:prstDash val="solid"/>
                    </a:lnT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183249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올바른 상태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T w="16200">
                      <a:solidFill>
                        <a:srgbClr val="CBDBDF"/>
                      </a:solidFill>
                      <a:prstDash val="solid"/>
                    </a:lnT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183249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방문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T w="16200">
                      <a:solidFill>
                        <a:srgbClr val="CBDBDF"/>
                      </a:solidFill>
                      <a:prstDash val="solid"/>
                    </a:lnT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183249"/>
                    </a:solidFill>
                  </a:tcPr>
                </a:tc>
              </a:tr>
              <a:tr h="972000"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단계 선택</a:t>
                      </a:r>
                    </a:p>
                  </a:txBody>
                  <a:tcPr marL="91440" marR="91440" marT="45720" marB="45720">
                    <a:lnL w="16200">
                      <a:solidFill>
                        <a:srgbClr val="CBDBDF"/>
                      </a:solidFill>
                      <a:prstDash val="solid"/>
                    </a:lnL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76.31%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1136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2000"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정보량</a:t>
                      </a:r>
                    </a:p>
                  </a:txBody>
                  <a:tcPr marL="91440" marR="91440" marT="45720" marB="45720">
                    <a:lnL w="16200">
                      <a:solidFill>
                        <a:srgbClr val="CBDBDF"/>
                      </a:solidFill>
                      <a:prstDash val="solid"/>
                    </a:lnL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75.75%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1136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2000"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Bayes 오류 감소</a:t>
                      </a:r>
                    </a:p>
                  </a:txBody>
                  <a:tcPr marL="91440" marR="91440" marT="45720" marB="45720">
                    <a:lnL w="16200">
                      <a:solidFill>
                        <a:srgbClr val="CBDBDF"/>
                      </a:solidFill>
                      <a:prstDash val="solid"/>
                    </a:lnL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74.98%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0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1136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2000"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선택적 재확인</a:t>
                      </a:r>
                    </a:p>
                  </a:txBody>
                  <a:tcPr marL="91440" marR="91440" marT="45720" marB="45720">
                    <a:lnL w="16200">
                      <a:solidFill>
                        <a:srgbClr val="CBDBDF"/>
                      </a:solidFill>
                      <a:prstDash val="solid"/>
                    </a:lnL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ECF7F6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79.42%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ECF7F6"/>
                    </a:solidFill>
                  </a:tcPr>
                </a:tc>
                <a:tc>
                  <a:txBody>
                    <a:bodyPr lIns="270000" tIns="189000" rIns="189000" bIns="135000"/>
                    <a:lstStyle/>
                    <a:p>
                      <a:r>
                        <a:rPr sz="3402" b="1">
                          <a:solidFill>
                            <a:srgbClr val="1832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939</a:t>
                      </a:r>
                    </a:p>
                  </a:txBody>
                  <a:tcPr marL="91440" marR="91440" marT="45720" marB="45720">
                    <a:lnR w="16200">
                      <a:solidFill>
                        <a:srgbClr val="CBDBDF"/>
                      </a:solidFill>
                      <a:prstDash val="solid"/>
                    </a:lnR>
                    <a:lnB w="16200">
                      <a:solidFill>
                        <a:srgbClr val="CBDBDF"/>
                      </a:solidFill>
                      <a:prstDash val="solid"/>
                    </a:lnB>
                    <a:solidFill>
                      <a:srgbClr val="ECF7F6"/>
                    </a:solidFill>
                  </a:tcPr>
                </a:tc>
              </a:tr>
            </a:tbl>
          </a:graphicData>
        </a:graphic>
      </p:graphicFrame>
      <p:sp>
        <p:nvSpPr>
          <p:cNvPr id="32" name="denominator">
            <a:extLst xmlns:a="http://schemas.openxmlformats.org/drawingml/2006/main">
              <a:ext uri="{FF2B5EF4-FFF2-40B4-BE49-F238E27FC236}">
                <a16:creationId xmlns:a16="http://schemas.microsoft.com/office/drawing/2014/main" id="{B6F8E810-CEFC-40C0-9B28-698088C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35100000"/>
            <a:ext cx="14364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76" b="0">
                <a:solidFill>
                  <a:srgbClr val="4D6170"/>
                </a:solidFill>
              </a:defRPr>
            </a:defPPr>
            <a:lvl1pPr>
              <a:defRPr sz="2976" b="0">
                <a:solidFill>
                  <a:srgbClr val="4D6170"/>
                </a:solidFill>
              </a:defRPr>
            </a:lvl1pPr>
            <a:lvl2pPr>
              <a:defRPr sz="2976" b="0">
                <a:solidFill>
                  <a:srgbClr val="4D6170"/>
                </a:solidFill>
              </a:defRPr>
            </a:lvl2pPr>
            <a:lvl3pPr>
              <a:defRPr sz="2976" b="0">
                <a:solidFill>
                  <a:srgbClr val="4D6170"/>
                </a:solidFill>
              </a:defRPr>
            </a:lvl3pPr>
            <a:lvl4pPr>
              <a:defRPr sz="2976" b="0">
                <a:solidFill>
                  <a:srgbClr val="4D6170"/>
                </a:solidFill>
              </a:defRPr>
            </a:lvl4pPr>
            <a:lvl5pPr>
              <a:defRPr sz="2976" b="0">
                <a:solidFill>
                  <a:srgbClr val="4D6170"/>
                </a:solidFill>
              </a:defRPr>
            </a:lvl5pPr>
            <a:lvl6pPr>
              <a:defRPr sz="2976" b="0">
                <a:solidFill>
                  <a:srgbClr val="4D6170"/>
                </a:solidFill>
              </a:defRPr>
            </a:lvl6pPr>
            <a:lvl7pPr>
              <a:defRPr sz="2976" b="0">
                <a:solidFill>
                  <a:srgbClr val="4D6170"/>
                </a:solidFill>
              </a:defRPr>
            </a:lvl7pPr>
            <a:lvl8pPr>
              <a:defRPr sz="2976" b="0">
                <a:solidFill>
                  <a:srgbClr val="4D6170"/>
                </a:solidFill>
              </a:defRPr>
            </a:lvl8pPr>
            <a:lvl9pPr>
              <a:defRPr sz="2976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2976" b="0">
                <a:solidFill>
                  <a:srgbClr val="4D6170"/>
                </a:solidFill>
              </a:defRPr>
            </a:pPr>
            <a: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새 공개 시험 24건·수치 비교 58개. 평가 1,200명 × 4시험 = 4,800상태.</a:t>
            </a:r>
            <a:b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초기부터 맞힌 상태를 공통 포함. 확인 최대 3회·추가 방문 최대 1회.</a:t>
            </a:r>
          </a:p>
        </p:txBody>
      </p:sp>
      <p:sp>
        <p:nvSpPr>
          <p:cNvPr id="33" name="rule-48-1380">
            <a:extLst xmlns:a="http://schemas.openxmlformats.org/drawingml/2006/main">
              <a:ext uri="{FF2B5EF4-FFF2-40B4-BE49-F238E27FC236}">
                <a16:creationId xmlns:a16="http://schemas.microsoft.com/office/drawing/2014/main" id="{73BAB26B-91CB-4B41-85E8-B6F7048E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37260000"/>
            <a:ext cx="29808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F"/>
          </a:solidFill>
          <a:ln xmlns:a="http://schemas.openxmlformats.org/drawingml/2006/main" w="0">
            <a:noFill/>
          </a:ln>
        </p:spPr>
      </p:sp>
      <p:sp>
        <p:nvSpPr>
          <p:cNvPr id="34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D1FCC41F-CFD2-4BB5-A9C5-E0E83DA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37773000"/>
            <a:ext cx="5130000" cy="8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52" b="1">
                <a:solidFill>
                  <a:srgbClr val="9A463D"/>
                </a:solidFill>
              </a:defRPr>
            </a:defPPr>
            <a:lvl1pPr>
              <a:defRPr sz="4252" b="1">
                <a:solidFill>
                  <a:srgbClr val="9A463D"/>
                </a:solidFill>
              </a:defRPr>
            </a:lvl1pPr>
            <a:lvl2pPr>
              <a:defRPr sz="4252" b="1">
                <a:solidFill>
                  <a:srgbClr val="9A463D"/>
                </a:solidFill>
              </a:defRPr>
            </a:lvl2pPr>
            <a:lvl3pPr>
              <a:defRPr sz="4252" b="1">
                <a:solidFill>
                  <a:srgbClr val="9A463D"/>
                </a:solidFill>
              </a:defRPr>
            </a:lvl3pPr>
            <a:lvl4pPr>
              <a:defRPr sz="4252" b="1">
                <a:solidFill>
                  <a:srgbClr val="9A463D"/>
                </a:solidFill>
              </a:defRPr>
            </a:lvl4pPr>
            <a:lvl5pPr>
              <a:defRPr sz="4252" b="1">
                <a:solidFill>
                  <a:srgbClr val="9A463D"/>
                </a:solidFill>
              </a:defRPr>
            </a:lvl5pPr>
            <a:lvl6pPr>
              <a:defRPr sz="4252" b="1">
                <a:solidFill>
                  <a:srgbClr val="9A463D"/>
                </a:solidFill>
              </a:defRPr>
            </a:lvl6pPr>
            <a:lvl7pPr>
              <a:defRPr sz="4252" b="1">
                <a:solidFill>
                  <a:srgbClr val="9A463D"/>
                </a:solidFill>
              </a:defRPr>
            </a:lvl7pPr>
            <a:lvl8pPr>
              <a:defRPr sz="4252" b="1">
                <a:solidFill>
                  <a:srgbClr val="9A463D"/>
                </a:solidFill>
              </a:defRPr>
            </a:lvl8pPr>
            <a:lvl9pPr>
              <a:defRPr sz="4252" b="1">
                <a:solidFill>
                  <a:srgbClr val="9A463D"/>
                </a:solidFill>
              </a:defRPr>
            </a:lvl9pPr>
          </a:lstStyle>
          <a:p xmlns:a="http://schemas.openxmlformats.org/drawingml/2006/main">
            <a:pPr>
              <a:defRPr sz="4252" b="1">
                <a:solidFill>
                  <a:srgbClr val="9A463D"/>
                </a:solidFill>
              </a:defRPr>
            </a:pPr>
            <a:r>
              <a:rPr sz="4252" b="1">
                <a:solidFill>
                  <a:srgbClr val="9A463D"/>
                </a:solidFill>
                <a:latin typeface="Malgun Gothic"/>
                <a:ea typeface="Malgun Gothic"/>
                <a:cs typeface="Malgun Gothic"/>
              </a:rPr>
              <a:t>해석과 한계</a:t>
            </a:r>
          </a:p>
        </p:txBody>
      </p:sp>
      <p:sp>
        <p:nvSpPr>
          <p:cNvPr id="35" name="limits">
            <a:extLst xmlns:a="http://schemas.openxmlformats.org/drawingml/2006/main">
              <a:ext uri="{FF2B5EF4-FFF2-40B4-BE49-F238E27FC236}">
                <a16:creationId xmlns:a16="http://schemas.microsoft.com/office/drawing/2014/main" id="{19FE675E-B53C-4E2A-AD47-20015DA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000" y="37773000"/>
            <a:ext cx="24759000" cy="21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76" b="0">
                <a:solidFill>
                  <a:srgbClr val="4D6170"/>
                </a:solidFill>
              </a:defRPr>
            </a:defPPr>
            <a:lvl1pPr>
              <a:defRPr sz="2976" b="0">
                <a:solidFill>
                  <a:srgbClr val="4D6170"/>
                </a:solidFill>
              </a:defRPr>
            </a:lvl1pPr>
            <a:lvl2pPr>
              <a:defRPr sz="2976" b="0">
                <a:solidFill>
                  <a:srgbClr val="4D6170"/>
                </a:solidFill>
              </a:defRPr>
            </a:lvl2pPr>
            <a:lvl3pPr>
              <a:defRPr sz="2976" b="0">
                <a:solidFill>
                  <a:srgbClr val="4D6170"/>
                </a:solidFill>
              </a:defRPr>
            </a:lvl3pPr>
            <a:lvl4pPr>
              <a:defRPr sz="2976" b="0">
                <a:solidFill>
                  <a:srgbClr val="4D6170"/>
                </a:solidFill>
              </a:defRPr>
            </a:lvl4pPr>
            <a:lvl5pPr>
              <a:defRPr sz="2976" b="0">
                <a:solidFill>
                  <a:srgbClr val="4D6170"/>
                </a:solidFill>
              </a:defRPr>
            </a:lvl5pPr>
            <a:lvl6pPr>
              <a:defRPr sz="2976" b="0">
                <a:solidFill>
                  <a:srgbClr val="4D6170"/>
                </a:solidFill>
              </a:defRPr>
            </a:lvl6pPr>
            <a:lvl7pPr>
              <a:defRPr sz="2976" b="0">
                <a:solidFill>
                  <a:srgbClr val="4D6170"/>
                </a:solidFill>
              </a:defRPr>
            </a:lvl7pPr>
            <a:lvl8pPr>
              <a:defRPr sz="2976" b="0">
                <a:solidFill>
                  <a:srgbClr val="4D6170"/>
                </a:solidFill>
              </a:defRPr>
            </a:lvl8pPr>
            <a:lvl9pPr>
              <a:defRPr sz="2976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2976" b="0">
                <a:solidFill>
                  <a:srgbClr val="4D6170"/>
                </a:solidFill>
              </a:defRPr>
            </a:pPr>
            <a: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오판 환자 23/1,046명에서 26/1,064명, 전체 행동 2,957회에서 3,022회로 증가했습니다.</a:t>
            </a:r>
            <a:b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같은 위험 목표는 실제 오류율의 동등성을 뜻하지 않습니다. 분포·오류 변화에서는 교정 목표를 넘었습니다.</a:t>
            </a:r>
            <a:b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2976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선택한 수치 부분조건의 합성 결과이며 전체 임상 적격·환자 편익은 검증하지 않았습니다.</a:t>
            </a:r>
          </a:p>
        </p:txBody>
      </p:sp>
      <p:sp>
        <p:nvSpPr>
          <p:cNvPr id="36" name="references">
            <a:extLst xmlns:a="http://schemas.openxmlformats.org/drawingml/2006/main">
              <a:ext uri="{FF2B5EF4-FFF2-40B4-BE49-F238E27FC236}">
                <a16:creationId xmlns:a16="http://schemas.microsoft.com/office/drawing/2014/main" id="{24F1C8B3-64C6-4525-A593-CD5A71B6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40230000"/>
            <a:ext cx="14526000" cy="116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45" b="0">
                <a:solidFill>
                  <a:srgbClr val="4D6170"/>
                </a:solidFill>
              </a:defRPr>
            </a:defPPr>
            <a:lvl1pPr>
              <a:defRPr sz="2445" b="0">
                <a:solidFill>
                  <a:srgbClr val="4D6170"/>
                </a:solidFill>
              </a:defRPr>
            </a:lvl1pPr>
            <a:lvl2pPr>
              <a:defRPr sz="2445" b="0">
                <a:solidFill>
                  <a:srgbClr val="4D6170"/>
                </a:solidFill>
              </a:defRPr>
            </a:lvl2pPr>
            <a:lvl3pPr>
              <a:defRPr sz="2445" b="0">
                <a:solidFill>
                  <a:srgbClr val="4D6170"/>
                </a:solidFill>
              </a:defRPr>
            </a:lvl3pPr>
            <a:lvl4pPr>
              <a:defRPr sz="2445" b="0">
                <a:solidFill>
                  <a:srgbClr val="4D6170"/>
                </a:solidFill>
              </a:defRPr>
            </a:lvl4pPr>
            <a:lvl5pPr>
              <a:defRPr sz="2445" b="0">
                <a:solidFill>
                  <a:srgbClr val="4D6170"/>
                </a:solidFill>
              </a:defRPr>
            </a:lvl5pPr>
            <a:lvl6pPr>
              <a:defRPr sz="2445" b="0">
                <a:solidFill>
                  <a:srgbClr val="4D6170"/>
                </a:solidFill>
              </a:defRPr>
            </a:lvl6pPr>
            <a:lvl7pPr>
              <a:defRPr sz="2445" b="0">
                <a:solidFill>
                  <a:srgbClr val="4D6170"/>
                </a:solidFill>
              </a:defRPr>
            </a:lvl7pPr>
            <a:lvl8pPr>
              <a:defRPr sz="2445" b="0">
                <a:solidFill>
                  <a:srgbClr val="4D6170"/>
                </a:solidFill>
              </a:defRPr>
            </a:lvl8pPr>
            <a:lvl9pPr>
              <a:defRPr sz="2445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2445" b="0">
                <a:solidFill>
                  <a:srgbClr val="4D6170"/>
                </a:solidFill>
              </a:defRPr>
            </a:pPr>
            <a: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[1] Liu et al. DQueST. JAMIA 2019. doi:10.1093/jamia/ocz121</a:t>
            </a:r>
            <a:b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[2] Javdani et al. Decision Making. AISTATS 2014;33:430–438.</a:t>
            </a:r>
          </a:p>
        </p:txBody>
      </p:sp>
      <p:sp>
        <p:nvSpPr>
          <p:cNvPr id="37" name="references-two">
            <a:extLst xmlns:a="http://schemas.openxmlformats.org/drawingml/2006/main">
              <a:ext uri="{FF2B5EF4-FFF2-40B4-BE49-F238E27FC236}">
                <a16:creationId xmlns:a16="http://schemas.microsoft.com/office/drawing/2014/main" id="{7EB9F7DE-2A16-43AF-97A9-4F35FBAB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000" y="40230000"/>
            <a:ext cx="14364000" cy="116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45" b="0">
                <a:solidFill>
                  <a:srgbClr val="4D6170"/>
                </a:solidFill>
              </a:defRPr>
            </a:defPPr>
            <a:lvl1pPr>
              <a:defRPr sz="2445" b="0">
                <a:solidFill>
                  <a:srgbClr val="4D6170"/>
                </a:solidFill>
              </a:defRPr>
            </a:lvl1pPr>
            <a:lvl2pPr>
              <a:defRPr sz="2445" b="0">
                <a:solidFill>
                  <a:srgbClr val="4D6170"/>
                </a:solidFill>
              </a:defRPr>
            </a:lvl2pPr>
            <a:lvl3pPr>
              <a:defRPr sz="2445" b="0">
                <a:solidFill>
                  <a:srgbClr val="4D6170"/>
                </a:solidFill>
              </a:defRPr>
            </a:lvl3pPr>
            <a:lvl4pPr>
              <a:defRPr sz="2445" b="0">
                <a:solidFill>
                  <a:srgbClr val="4D6170"/>
                </a:solidFill>
              </a:defRPr>
            </a:lvl4pPr>
            <a:lvl5pPr>
              <a:defRPr sz="2445" b="0">
                <a:solidFill>
                  <a:srgbClr val="4D6170"/>
                </a:solidFill>
              </a:defRPr>
            </a:lvl5pPr>
            <a:lvl6pPr>
              <a:defRPr sz="2445" b="0">
                <a:solidFill>
                  <a:srgbClr val="4D6170"/>
                </a:solidFill>
              </a:defRPr>
            </a:lvl6pPr>
            <a:lvl7pPr>
              <a:defRPr sz="2445" b="0">
                <a:solidFill>
                  <a:srgbClr val="4D6170"/>
                </a:solidFill>
              </a:defRPr>
            </a:lvl7pPr>
            <a:lvl8pPr>
              <a:defRPr sz="2445" b="0">
                <a:solidFill>
                  <a:srgbClr val="4D6170"/>
                </a:solidFill>
              </a:defRPr>
            </a:lvl8pPr>
            <a:lvl9pPr>
              <a:defRPr sz="2445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2445" b="0">
                <a:solidFill>
                  <a:srgbClr val="4D6170"/>
                </a:solidFill>
              </a:defRPr>
            </a:pPr>
            <a: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[3] Ma et al. EDDI. ICML 2019;97:4234–4243.</a:t>
            </a:r>
            <a:b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</a:br>
            <a: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[4] Angelopoulos et al. Learn then Test. arXiv:2110.01052v5.</a:t>
            </a:r>
          </a:p>
        </p:txBody>
      </p:sp>
      <p:sp>
        <p:nvSpPr>
          <p:cNvPr id="38" name="disclaimer">
            <a:extLst xmlns:a="http://schemas.openxmlformats.org/drawingml/2006/main">
              <a:ext uri="{FF2B5EF4-FFF2-40B4-BE49-F238E27FC236}">
                <a16:creationId xmlns:a16="http://schemas.microsoft.com/office/drawing/2014/main" id="{E6594D15-F000-4D1C-8FD9-41A01DE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41850000"/>
            <a:ext cx="29808000" cy="10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45" b="0">
                <a:solidFill>
                  <a:srgbClr val="4D6170"/>
                </a:solidFill>
              </a:defRPr>
            </a:defPPr>
            <a:lvl1pPr>
              <a:defRPr sz="2445" b="0">
                <a:solidFill>
                  <a:srgbClr val="4D6170"/>
                </a:solidFill>
              </a:defRPr>
            </a:lvl1pPr>
            <a:lvl2pPr>
              <a:defRPr sz="2445" b="0">
                <a:solidFill>
                  <a:srgbClr val="4D6170"/>
                </a:solidFill>
              </a:defRPr>
            </a:lvl2pPr>
            <a:lvl3pPr>
              <a:defRPr sz="2445" b="0">
                <a:solidFill>
                  <a:srgbClr val="4D6170"/>
                </a:solidFill>
              </a:defRPr>
            </a:lvl3pPr>
            <a:lvl4pPr>
              <a:defRPr sz="2445" b="0">
                <a:solidFill>
                  <a:srgbClr val="4D6170"/>
                </a:solidFill>
              </a:defRPr>
            </a:lvl4pPr>
            <a:lvl5pPr>
              <a:defRPr sz="2445" b="0">
                <a:solidFill>
                  <a:srgbClr val="4D6170"/>
                </a:solidFill>
              </a:defRPr>
            </a:lvl5pPr>
            <a:lvl6pPr>
              <a:defRPr sz="2445" b="0">
                <a:solidFill>
                  <a:srgbClr val="4D6170"/>
                </a:solidFill>
              </a:defRPr>
            </a:lvl6pPr>
            <a:lvl7pPr>
              <a:defRPr sz="2445" b="0">
                <a:solidFill>
                  <a:srgbClr val="4D6170"/>
                </a:solidFill>
              </a:defRPr>
            </a:lvl7pPr>
            <a:lvl8pPr>
              <a:defRPr sz="2445" b="0">
                <a:solidFill>
                  <a:srgbClr val="4D6170"/>
                </a:solidFill>
              </a:defRPr>
            </a:lvl8pPr>
            <a:lvl9pPr>
              <a:defRPr sz="2445" b="0">
                <a:solidFill>
                  <a:srgbClr val="4D6170"/>
                </a:solidFill>
              </a:defRPr>
            </a:lvl9pPr>
          </a:lstStyle>
          <a:p xmlns:a="http://schemas.openxmlformats.org/drawingml/2006/main">
            <a:pPr>
              <a:defRPr sz="2445" b="0">
                <a:solidFill>
                  <a:srgbClr val="4D6170"/>
                </a:solidFill>
              </a:defRPr>
            </a:pPr>
            <a:r>
              <a:rPr sz="2445" b="0">
                <a:solidFill>
                  <a:srgbClr val="4D6170"/>
                </a:solidFill>
                <a:latin typeface="Malgun Gothic"/>
                <a:ea typeface="Malgun Gothic"/>
                <a:cs typeface="Malgun Gothic"/>
              </a:rPr>
              <a:t>이 결과는 의학적 조언이 아닌 참고용입니다. 임상시험 참가 가능성은 해당 시험의 최신 기준과 전체 자료를 바탕으로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842174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2026-10-23T05:11:21.2330000Z</dcterms:created>
  <dcterms:modified xsi:type="dcterms:W3CDTF">2026-10-23T05:11:21.2330000Z</dcterms:modified>
</coreProperties>
</file>